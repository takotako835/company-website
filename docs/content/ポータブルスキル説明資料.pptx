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7" r:id="rId2"/>
    <p:sldId id="260" r:id="rId3"/>
    <p:sldId id="259" r:id="rId4"/>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89CD524-33D4-4E72-898E-18C9CD948F55}" v="3" dt="2025-04-21T08:31:35.108"/>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20324" autoAdjust="0"/>
    <p:restoredTop sz="83377" autoAdjust="0"/>
  </p:normalViewPr>
  <p:slideViewPr>
    <p:cSldViewPr snapToGrid="0">
      <p:cViewPr varScale="1">
        <p:scale>
          <a:sx n="146" d="100"/>
          <a:sy n="146" d="100"/>
        </p:scale>
        <p:origin x="388" y="308"/>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tableStyles" Target="tableStyles.xml"/><Relationship Id="rId3" Type="http://schemas.openxmlformats.org/officeDocument/2006/relationships/slide" Target="slides/slide2.xml"/><Relationship Id="rId7" Type="http://schemas.openxmlformats.org/officeDocument/2006/relationships/theme" Target="theme/theme1.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viewProps" Target="viewProps.xml"/><Relationship Id="rId5" Type="http://schemas.openxmlformats.org/officeDocument/2006/relationships/presProps" Target="presProps.xml"/><Relationship Id="rId10" Type="http://schemas.microsoft.com/office/2015/10/relationships/revisionInfo" Target="revisionInfo.xml"/><Relationship Id="rId4" Type="http://schemas.openxmlformats.org/officeDocument/2006/relationships/slide" Target="slides/slide3.xml"/><Relationship Id="rId9"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yota Tamaoka" userId="ea33b97443f5e7a2" providerId="LiveId" clId="{8D22B201-4F2B-4F1B-9DFE-2A14218F97F8}"/>
    <pc:docChg chg="delSld">
      <pc:chgData name="Ryota Tamaoka" userId="ea33b97443f5e7a2" providerId="LiveId" clId="{8D22B201-4F2B-4F1B-9DFE-2A14218F97F8}" dt="2025-04-21T17:13:26.902" v="3" actId="47"/>
      <pc:docMkLst>
        <pc:docMk/>
      </pc:docMkLst>
      <pc:sldChg chg="del">
        <pc:chgData name="Ryota Tamaoka" userId="ea33b97443f5e7a2" providerId="LiveId" clId="{8D22B201-4F2B-4F1B-9DFE-2A14218F97F8}" dt="2025-04-21T17:13:25.339" v="1" actId="47"/>
        <pc:sldMkLst>
          <pc:docMk/>
          <pc:sldMk cId="2353518994" sldId="258"/>
        </pc:sldMkLst>
      </pc:sldChg>
      <pc:sldChg chg="del">
        <pc:chgData name="Ryota Tamaoka" userId="ea33b97443f5e7a2" providerId="LiveId" clId="{8D22B201-4F2B-4F1B-9DFE-2A14218F97F8}" dt="2025-04-21T17:13:24.612" v="0" actId="47"/>
        <pc:sldMkLst>
          <pc:docMk/>
          <pc:sldMk cId="2738336471" sldId="261"/>
        </pc:sldMkLst>
      </pc:sldChg>
      <pc:sldChg chg="del">
        <pc:chgData name="Ryota Tamaoka" userId="ea33b97443f5e7a2" providerId="LiveId" clId="{8D22B201-4F2B-4F1B-9DFE-2A14218F97F8}" dt="2025-04-21T17:13:26.187" v="2" actId="47"/>
        <pc:sldMkLst>
          <pc:docMk/>
          <pc:sldMk cId="30043886" sldId="262"/>
        </pc:sldMkLst>
      </pc:sldChg>
      <pc:sldChg chg="del">
        <pc:chgData name="Ryota Tamaoka" userId="ea33b97443f5e7a2" providerId="LiveId" clId="{8D22B201-4F2B-4F1B-9DFE-2A14218F97F8}" dt="2025-04-21T17:13:26.902" v="3" actId="47"/>
        <pc:sldMkLst>
          <pc:docMk/>
          <pc:sldMk cId="159561356" sldId="263"/>
        </pc:sldMkLst>
      </pc:sldChg>
    </pc:docChg>
  </pc:docChgLst>
  <pc:docChgLst>
    <pc:chgData name="Ryota Tamaoka" userId="ea33b97443f5e7a2" providerId="LiveId" clId="{C89CD524-33D4-4E72-898E-18C9CD948F55}"/>
    <pc:docChg chg="undo custSel addSld modSld">
      <pc:chgData name="Ryota Tamaoka" userId="ea33b97443f5e7a2" providerId="LiveId" clId="{C89CD524-33D4-4E72-898E-18C9CD948F55}" dt="2025-04-21T08:31:51.674" v="337" actId="20577"/>
      <pc:docMkLst>
        <pc:docMk/>
      </pc:docMkLst>
      <pc:sldChg chg="modSp mod">
        <pc:chgData name="Ryota Tamaoka" userId="ea33b97443f5e7a2" providerId="LiveId" clId="{C89CD524-33D4-4E72-898E-18C9CD948F55}" dt="2025-04-21T05:30:36.431" v="44" actId="12789"/>
        <pc:sldMkLst>
          <pc:docMk/>
          <pc:sldMk cId="3354965052" sldId="257"/>
        </pc:sldMkLst>
        <pc:spChg chg="mod">
          <ac:chgData name="Ryota Tamaoka" userId="ea33b97443f5e7a2" providerId="LiveId" clId="{C89CD524-33D4-4E72-898E-18C9CD948F55}" dt="2025-04-21T05:30:36.431" v="44" actId="12789"/>
          <ac:spMkLst>
            <pc:docMk/>
            <pc:sldMk cId="3354965052" sldId="257"/>
            <ac:spMk id="12" creationId="{BEBAA524-E0D3-ABD1-FBCC-A26140820545}"/>
          </ac:spMkLst>
        </pc:spChg>
        <pc:spChg chg="mod">
          <ac:chgData name="Ryota Tamaoka" userId="ea33b97443f5e7a2" providerId="LiveId" clId="{C89CD524-33D4-4E72-898E-18C9CD948F55}" dt="2025-04-21T05:30:36.431" v="44" actId="12789"/>
          <ac:spMkLst>
            <pc:docMk/>
            <pc:sldMk cId="3354965052" sldId="257"/>
            <ac:spMk id="16" creationId="{123EA7DE-C3BF-9F78-1E48-FD839F24654B}"/>
          </ac:spMkLst>
        </pc:spChg>
        <pc:spChg chg="mod">
          <ac:chgData name="Ryota Tamaoka" userId="ea33b97443f5e7a2" providerId="LiveId" clId="{C89CD524-33D4-4E72-898E-18C9CD948F55}" dt="2025-04-21T05:30:17.169" v="43" actId="1035"/>
          <ac:spMkLst>
            <pc:docMk/>
            <pc:sldMk cId="3354965052" sldId="257"/>
            <ac:spMk id="19" creationId="{4F804CA7-78C7-EC7C-6C77-2F52F3C90F9A}"/>
          </ac:spMkLst>
        </pc:spChg>
      </pc:sldChg>
      <pc:sldChg chg="modSp add mod">
        <pc:chgData name="Ryota Tamaoka" userId="ea33b97443f5e7a2" providerId="LiveId" clId="{C89CD524-33D4-4E72-898E-18C9CD948F55}" dt="2025-04-21T08:31:51.674" v="337" actId="20577"/>
        <pc:sldMkLst>
          <pc:docMk/>
          <pc:sldMk cId="2353518994" sldId="258"/>
        </pc:sldMkLst>
        <pc:spChg chg="mod">
          <ac:chgData name="Ryota Tamaoka" userId="ea33b97443f5e7a2" providerId="LiveId" clId="{C89CD524-33D4-4E72-898E-18C9CD948F55}" dt="2025-04-21T08:31:51.674" v="337" actId="20577"/>
          <ac:spMkLst>
            <pc:docMk/>
            <pc:sldMk cId="2353518994" sldId="258"/>
            <ac:spMk id="2" creationId="{89173B72-4D31-83F5-92F9-84B2981295CE}"/>
          </ac:spMkLst>
        </pc:spChg>
      </pc:sldChg>
      <pc:sldChg chg="addSp modSp mod">
        <pc:chgData name="Ryota Tamaoka" userId="ea33b97443f5e7a2" providerId="LiveId" clId="{C89CD524-33D4-4E72-898E-18C9CD948F55}" dt="2025-04-21T05:32:33.015" v="308" actId="20577"/>
        <pc:sldMkLst>
          <pc:docMk/>
          <pc:sldMk cId="222556135" sldId="259"/>
        </pc:sldMkLst>
        <pc:spChg chg="mod">
          <ac:chgData name="Ryota Tamaoka" userId="ea33b97443f5e7a2" providerId="LiveId" clId="{C89CD524-33D4-4E72-898E-18C9CD948F55}" dt="2025-04-21T05:31:38.691" v="125" actId="20577"/>
          <ac:spMkLst>
            <pc:docMk/>
            <pc:sldMk cId="222556135" sldId="259"/>
            <ac:spMk id="2" creationId="{7271A399-69E5-F971-5E8A-98CE898E485C}"/>
          </ac:spMkLst>
        </pc:spChg>
        <pc:spChg chg="add mod">
          <ac:chgData name="Ryota Tamaoka" userId="ea33b97443f5e7a2" providerId="LiveId" clId="{C89CD524-33D4-4E72-898E-18C9CD948F55}" dt="2025-04-21T05:32:33.015" v="308" actId="20577"/>
          <ac:spMkLst>
            <pc:docMk/>
            <pc:sldMk cId="222556135" sldId="259"/>
            <ac:spMk id="3" creationId="{8086E73F-2315-4CCB-68BA-36D592044A57}"/>
          </ac:spMkLst>
        </pc:spChg>
        <pc:spChg chg="mod">
          <ac:chgData name="Ryota Tamaoka" userId="ea33b97443f5e7a2" providerId="LiveId" clId="{C89CD524-33D4-4E72-898E-18C9CD948F55}" dt="2025-04-21T05:19:24.609" v="14" actId="403"/>
          <ac:spMkLst>
            <pc:docMk/>
            <pc:sldMk cId="222556135" sldId="259"/>
            <ac:spMk id="7" creationId="{06F8FC0B-543B-3F07-192C-7460B637F231}"/>
          </ac:spMkLst>
        </pc:spChg>
      </pc:sldChg>
      <pc:sldChg chg="modSp mod">
        <pc:chgData name="Ryota Tamaoka" userId="ea33b97443f5e7a2" providerId="LiveId" clId="{C89CD524-33D4-4E72-898E-18C9CD948F55}" dt="2025-04-21T05:31:13.728" v="75" actId="20577"/>
        <pc:sldMkLst>
          <pc:docMk/>
          <pc:sldMk cId="2187763432" sldId="260"/>
        </pc:sldMkLst>
        <pc:spChg chg="mod">
          <ac:chgData name="Ryota Tamaoka" userId="ea33b97443f5e7a2" providerId="LiveId" clId="{C89CD524-33D4-4E72-898E-18C9CD948F55}" dt="2025-04-21T05:31:13.728" v="75" actId="20577"/>
          <ac:spMkLst>
            <pc:docMk/>
            <pc:sldMk cId="2187763432" sldId="260"/>
            <ac:spMk id="2" creationId="{F6C959BF-18F8-0D26-182F-A10205ECEDED}"/>
          </ac:spMkLst>
        </pc:spChg>
        <pc:spChg chg="mod">
          <ac:chgData name="Ryota Tamaoka" userId="ea33b97443f5e7a2" providerId="LiveId" clId="{C89CD524-33D4-4E72-898E-18C9CD948F55}" dt="2025-04-21T05:30:58.529" v="45" actId="20577"/>
          <ac:spMkLst>
            <pc:docMk/>
            <pc:sldMk cId="2187763432" sldId="260"/>
            <ac:spMk id="4" creationId="{EFBEAA0C-1D69-377D-FF25-B720AD0B5B80}"/>
          </ac:spMkLst>
        </pc:spChg>
      </pc:sldChg>
      <pc:sldChg chg="modSp add mod">
        <pc:chgData name="Ryota Tamaoka" userId="ea33b97443f5e7a2" providerId="LiveId" clId="{C89CD524-33D4-4E72-898E-18C9CD948F55}" dt="2025-04-21T08:31:47.740" v="327" actId="20577"/>
        <pc:sldMkLst>
          <pc:docMk/>
          <pc:sldMk cId="2738336471" sldId="261"/>
        </pc:sldMkLst>
        <pc:spChg chg="mod">
          <ac:chgData name="Ryota Tamaoka" userId="ea33b97443f5e7a2" providerId="LiveId" clId="{C89CD524-33D4-4E72-898E-18C9CD948F55}" dt="2025-04-21T08:31:47.740" v="327" actId="20577"/>
          <ac:spMkLst>
            <pc:docMk/>
            <pc:sldMk cId="2738336471" sldId="261"/>
            <ac:spMk id="2" creationId="{C1F61222-C091-A65E-0ACC-BC1ECF96E651}"/>
          </ac:spMkLst>
        </pc:spChg>
      </pc:sldChg>
      <pc:sldChg chg="add">
        <pc:chgData name="Ryota Tamaoka" userId="ea33b97443f5e7a2" providerId="LiveId" clId="{C89CD524-33D4-4E72-898E-18C9CD948F55}" dt="2025-04-21T08:31:35.108" v="310"/>
        <pc:sldMkLst>
          <pc:docMk/>
          <pc:sldMk cId="30043886" sldId="262"/>
        </pc:sldMkLst>
      </pc:sldChg>
      <pc:sldChg chg="add">
        <pc:chgData name="Ryota Tamaoka" userId="ea33b97443f5e7a2" providerId="LiveId" clId="{C89CD524-33D4-4E72-898E-18C9CD948F55}" dt="2025-04-21T08:31:35.108" v="310"/>
        <pc:sldMkLst>
          <pc:docMk/>
          <pc:sldMk cId="159561356" sldId="263"/>
        </pc:sldMkLst>
      </pc:sldChg>
    </pc:docChg>
  </pc:docChgLst>
</pc:chgInfo>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13EE4A8-9B1E-40EE-43CB-E695B3752245}"/>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6A4A1702-3BAE-9E91-0DCF-B04294177AD4}"/>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D123D73E-1717-9E4E-B2F6-460913214279}"/>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11DC8C05-5B3D-0B9D-21D1-B75E2B880F32}"/>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D065132C-442D-4181-D5B1-618526357029}"/>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257667525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C491CDF-BED2-6ADF-F8B1-AE7B6C501212}"/>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6AE2811B-CE1E-C86E-6A71-CB8ABAC2875F}"/>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F5D8DBE-9713-E013-ACA1-686B146C40FB}"/>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15A64F29-106A-C8F4-465F-BCDC819CCC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7536CB4-6291-AFA1-DD44-9FC664226620}"/>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116864198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70861E9-78D8-273A-F571-B9A2084A4189}"/>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C81E5922-E652-650C-AEB8-3DA21BD3A41B}"/>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05FF7B3B-E74F-F2B4-8A67-F2EA45B03099}"/>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F7EE539F-6AA5-B550-30A9-4584D7E03F5C}"/>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5CE9944A-0524-0ABA-E859-27D5E68BD4C2}"/>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154578169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47B4C26-7356-451C-1D7E-BB1737BCC857}"/>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F761D2E8-61EE-6EFB-4C7E-4EFC40F30974}"/>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10F47AE2-FBBA-0552-F2AC-021F01A06AAC}"/>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989A428D-0291-F56D-CF18-0E3E7ACD6B75}"/>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6" name="フッター プレースホルダー 5">
            <a:extLst>
              <a:ext uri="{FF2B5EF4-FFF2-40B4-BE49-F238E27FC236}">
                <a16:creationId xmlns:a16="http://schemas.microsoft.com/office/drawing/2014/main" id="{FB07AC65-33AF-7E03-5152-B2A8287B68BC}"/>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93703A5-C17A-6187-3616-CDF955E9C102}"/>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32954828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FF6789D-3FC6-C176-4ABF-F62A64CD39F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4F735339-124C-91F1-2EF7-D17C915F330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F3AA08E9-5B10-0CAC-7ADE-8B94658A9B27}"/>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D518D565-326F-7D0A-1EF0-9DFDC0A2871E}"/>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DF6372-694D-F5B1-6F1C-8DE536282A4B}"/>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4FBF1906-23A3-017C-A7F1-A5827DE9A6B9}"/>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8" name="フッター プレースホルダー 7">
            <a:extLst>
              <a:ext uri="{FF2B5EF4-FFF2-40B4-BE49-F238E27FC236}">
                <a16:creationId xmlns:a16="http://schemas.microsoft.com/office/drawing/2014/main" id="{7D7D0690-82E2-9F74-7C3F-5CA25C9D149D}"/>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D54C1F58-2CBD-B780-9537-4D50C201862C}"/>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329660175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4759CC4-B845-A2A6-2834-4F7EB956671A}"/>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9B2DCD58-FD63-3746-F9EE-1C01651EE0D9}"/>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4" name="フッター プレースホルダー 3">
            <a:extLst>
              <a:ext uri="{FF2B5EF4-FFF2-40B4-BE49-F238E27FC236}">
                <a16:creationId xmlns:a16="http://schemas.microsoft.com/office/drawing/2014/main" id="{FC7AF5CE-AFCA-F0DB-167E-B21F7F77CE9E}"/>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F1A771EC-32B1-D2E0-EBE9-41B5B399780B}"/>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68673742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6E079176-76E4-402C-B437-71933BCACAA7}"/>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3" name="フッター プレースホルダー 2">
            <a:extLst>
              <a:ext uri="{FF2B5EF4-FFF2-40B4-BE49-F238E27FC236}">
                <a16:creationId xmlns:a16="http://schemas.microsoft.com/office/drawing/2014/main" id="{F71CCA25-4ED6-1024-F5CA-CB37E78912A1}"/>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81A912C0-A190-1671-E057-EC5A4781C111}"/>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153765694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2B5B16-ACB0-15DA-2E38-38390FC033D0}"/>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B2755998-AFA1-BD22-DF72-E812CAF3EE92}"/>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8E8D276F-3919-2F5E-A37B-44682697B245}"/>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86667D20-C7B7-FC77-4F5C-8BE5838040C7}"/>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6" name="フッター プレースホルダー 5">
            <a:extLst>
              <a:ext uri="{FF2B5EF4-FFF2-40B4-BE49-F238E27FC236}">
                <a16:creationId xmlns:a16="http://schemas.microsoft.com/office/drawing/2014/main" id="{C6C7E64D-C865-B5C0-49CB-EA998E55ABA3}"/>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3ADC80B3-A7D7-8772-8D32-296D74CB003F}"/>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2848897135"/>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056CFCF-0282-F134-EC11-918BBAF19F54}"/>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DBAE7DAC-6389-CB60-A0F7-5251D06F2EEC}"/>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317CFEEE-CDD7-1456-BA6F-236175A4E56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01099C28-A95F-91D4-3318-537B22EFB4CC}"/>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6" name="フッター プレースホルダー 5">
            <a:extLst>
              <a:ext uri="{FF2B5EF4-FFF2-40B4-BE49-F238E27FC236}">
                <a16:creationId xmlns:a16="http://schemas.microsoft.com/office/drawing/2014/main" id="{B5D53309-5DA8-2FDD-1060-9196614DB871}"/>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F0637082-1242-95A5-01E7-F8654CDBC535}"/>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101208956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40EBD71-7767-C33A-5029-F0B0A0B7D238}"/>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9BE28228-48D3-68B3-07D0-51D0A5626CEA}"/>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28D20E6D-025E-DD84-BD5D-CC16003C0BE0}"/>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32B8E9A8-BC53-FE32-2E6E-1DCA807BC3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EBADB89F-F13E-BA70-3199-3F3F07564426}"/>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30323618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883A86F7-EE9A-9BBC-8E5A-0FFE3441460E}"/>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223DF5A9-173D-C5BF-23D1-5E690758667F}"/>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6E134BA0-B470-ACDA-F1BC-1BB5F0CF36DD}"/>
              </a:ext>
            </a:extLst>
          </p:cNvPr>
          <p:cNvSpPr>
            <a:spLocks noGrp="1"/>
          </p:cNvSpPr>
          <p:nvPr>
            <p:ph type="dt" sz="half" idx="10"/>
          </p:nvPr>
        </p:nvSpPr>
        <p:spPr/>
        <p:txBody>
          <a:bodyPr/>
          <a:lstStyle/>
          <a:p>
            <a:fld id="{92F7832D-2A47-4263-B21E-55B02E1FFA9B}"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7801AFCC-07D3-394B-635A-71414506E43F}"/>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3DB6194B-6C06-3DB4-DB31-C97BAD15D00A}"/>
              </a:ext>
            </a:extLst>
          </p:cNvPr>
          <p:cNvSpPr>
            <a:spLocks noGrp="1"/>
          </p:cNvSpPr>
          <p:nvPr>
            <p:ph type="sldNum" sz="quarter" idx="12"/>
          </p:nvPr>
        </p:nvSpPr>
        <p:spPr/>
        <p:txBody>
          <a:bodyPr/>
          <a:lstStyle/>
          <a:p>
            <a:fld id="{9976C621-7DCC-4B0E-A53C-2677646C1C00}" type="slidenum">
              <a:rPr kumimoji="1" lang="ja-JP" altLang="en-US" smtClean="0"/>
              <a:t>‹#›</a:t>
            </a:fld>
            <a:endParaRPr kumimoji="1" lang="ja-JP" altLang="en-US"/>
          </a:p>
        </p:txBody>
      </p:sp>
    </p:spTree>
    <p:extLst>
      <p:ext uri="{BB962C8B-B14F-4D97-AF65-F5344CB8AC3E}">
        <p14:creationId xmlns:p14="http://schemas.microsoft.com/office/powerpoint/2010/main" val="31310975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AACCBDF2-BCFE-17F9-0F4A-ECA80DE28E9D}"/>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F050AC16-12D2-E356-CB96-FB81D84A6F97}"/>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5788A27-66DE-A4FF-803A-6F49D6058A00}"/>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92F7832D-2A47-4263-B21E-55B02E1FFA9B}" type="datetimeFigureOut">
              <a:rPr kumimoji="1" lang="ja-JP" altLang="en-US" smtClean="0"/>
              <a:t>2025/4/22</a:t>
            </a:fld>
            <a:endParaRPr kumimoji="1" lang="ja-JP" altLang="en-US"/>
          </a:p>
        </p:txBody>
      </p:sp>
      <p:sp>
        <p:nvSpPr>
          <p:cNvPr id="5" name="フッター プレースホルダー 4">
            <a:extLst>
              <a:ext uri="{FF2B5EF4-FFF2-40B4-BE49-F238E27FC236}">
                <a16:creationId xmlns:a16="http://schemas.microsoft.com/office/drawing/2014/main" id="{ED1A844F-CD55-A80B-9D85-12F0F46FCA2C}"/>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E82DB81B-B595-CB7B-601E-8FD1467004A1}"/>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9976C621-7DCC-4B0E-A53C-2677646C1C00}" type="slidenum">
              <a:rPr kumimoji="1" lang="ja-JP" altLang="en-US" smtClean="0"/>
              <a:t>‹#›</a:t>
            </a:fld>
            <a:endParaRPr kumimoji="1" lang="ja-JP" altLang="en-US"/>
          </a:p>
        </p:txBody>
      </p:sp>
      <p:cxnSp>
        <p:nvCxnSpPr>
          <p:cNvPr id="7" name="直線コネクタ 6">
            <a:extLst>
              <a:ext uri="{FF2B5EF4-FFF2-40B4-BE49-F238E27FC236}">
                <a16:creationId xmlns:a16="http://schemas.microsoft.com/office/drawing/2014/main" id="{9913DF5A-49F2-F48E-742F-5B4DD961D523}"/>
              </a:ext>
            </a:extLst>
          </p:cNvPr>
          <p:cNvCxnSpPr>
            <a:cxnSpLocks/>
          </p:cNvCxnSpPr>
          <p:nvPr userDrawn="1"/>
        </p:nvCxnSpPr>
        <p:spPr>
          <a:xfrm>
            <a:off x="-191985" y="620713"/>
            <a:ext cx="12575969" cy="0"/>
          </a:xfrm>
          <a:prstGeom prst="line">
            <a:avLst/>
          </a:prstGeom>
          <a:ln w="12700">
            <a:solidFill>
              <a:schemeClr val="tx2"/>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63719297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8" Type="http://schemas.openxmlformats.org/officeDocument/2006/relationships/hyperlink" Target="https://www.meti.go.jp/press/2022/05/20220531001/20220531001.html" TargetMode="External"/><Relationship Id="rId3" Type="http://schemas.openxmlformats.org/officeDocument/2006/relationships/hyperlink" Target="https://research.lightworks.co.jp/portable-skills" TargetMode="External"/><Relationship Id="rId7" Type="http://schemas.openxmlformats.org/officeDocument/2006/relationships/hyperlink" Target="https://www.meti.go.jp/policy/economy/jinteki_shihon/pdf/report2.0_cases.pdf" TargetMode="External"/><Relationship Id="rId2" Type="http://schemas.openxmlformats.org/officeDocument/2006/relationships/hyperlink" Target="https://www.mhlw.go.jp/content/11600000/001244078.pdf" TargetMode="External"/><Relationship Id="rId1" Type="http://schemas.openxmlformats.org/officeDocument/2006/relationships/slideLayout" Target="../slideLayouts/slideLayout7.xml"/><Relationship Id="rId6" Type="http://schemas.openxmlformats.org/officeDocument/2006/relationships/hyperlink" Target="https://www.meti.go.jp/press/2022/05/20220531001/20220531001-1.pdf" TargetMode="External"/><Relationship Id="rId5" Type="http://schemas.openxmlformats.org/officeDocument/2006/relationships/hyperlink" Target="https://career-research.mynavi.jp/column/20241107_88105" TargetMode="External"/><Relationship Id="rId10" Type="http://schemas.openxmlformats.org/officeDocument/2006/relationships/hyperlink" Target="https://www.works-i.com/works/item/w_180.pdf" TargetMode="External"/><Relationship Id="rId4" Type="http://schemas.openxmlformats.org/officeDocument/2006/relationships/hyperlink" Target="https://www.pref.ibaraki.jp/soshiki/shokorodo/sanjin/documents/siryo2.pdf" TargetMode="External"/><Relationship Id="rId9" Type="http://schemas.openxmlformats.org/officeDocument/2006/relationships/hyperlink" Target="https://www.cas.go.jp/jp/seisaku/kyouikumirai/dai3/siryou4.pdf" TargetMode="External"/></Relationships>
</file>

<file path=ppt/slides/_rels/slide3.xml.rels><?xml version="1.0" encoding="UTF-8" standalone="yes"?>
<Relationships xmlns="http://schemas.openxmlformats.org/package/2006/relationships"><Relationship Id="rId2" Type="http://schemas.openxmlformats.org/officeDocument/2006/relationships/hyperlink" Target="https://www2.deloitte.com/content/dam/insights/articles/glob175985_global-human-capital-trends-2023/GLOB175985_HUMAN-CAPITAL-TRENDS-2023.pdf" TargetMode="Externa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タイトル 6">
            <a:extLst>
              <a:ext uri="{FF2B5EF4-FFF2-40B4-BE49-F238E27FC236}">
                <a16:creationId xmlns:a16="http://schemas.microsoft.com/office/drawing/2014/main" id="{C1F61222-C091-A65E-0ACC-BC1ECF96E651}"/>
              </a:ext>
            </a:extLst>
          </p:cNvPr>
          <p:cNvSpPr txBox="1">
            <a:spLocks/>
          </p:cNvSpPr>
          <p:nvPr/>
        </p:nvSpPr>
        <p:spPr>
          <a:xfrm>
            <a:off x="84030" y="139589"/>
            <a:ext cx="11221427" cy="528855"/>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400" b="1" dirty="0">
                <a:latin typeface="Meiryo UI" panose="020B0604030504040204" pitchFamily="50" charset="-128"/>
                <a:ea typeface="Meiryo UI" panose="020B0604030504040204" pitchFamily="50" charset="-128"/>
                <a:cs typeface="+mn-cs"/>
              </a:rPr>
              <a:t>ポータブルスキルとは</a:t>
            </a:r>
            <a:endParaRPr lang="ja-JP" altLang="en-US" dirty="0"/>
          </a:p>
        </p:txBody>
      </p:sp>
      <p:sp>
        <p:nvSpPr>
          <p:cNvPr id="4" name="四角形: 角を丸くする 3">
            <a:extLst>
              <a:ext uri="{FF2B5EF4-FFF2-40B4-BE49-F238E27FC236}">
                <a16:creationId xmlns:a16="http://schemas.microsoft.com/office/drawing/2014/main" id="{5E4FC8A1-2D75-40EF-D012-F15A6AE04160}"/>
              </a:ext>
            </a:extLst>
          </p:cNvPr>
          <p:cNvSpPr/>
          <p:nvPr/>
        </p:nvSpPr>
        <p:spPr>
          <a:xfrm>
            <a:off x="284480" y="706211"/>
            <a:ext cx="11734800" cy="645947"/>
          </a:xfrm>
          <a:prstGeom prst="roundRect">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i="1" dirty="0">
                <a:solidFill>
                  <a:schemeClr val="tx1"/>
                </a:solidFill>
                <a:latin typeface="Meiryo UI" panose="020B0604030504040204" pitchFamily="50" charset="-128"/>
                <a:ea typeface="Meiryo UI" panose="020B0604030504040204" pitchFamily="50" charset="-128"/>
              </a:rPr>
              <a:t>ポータブルスキルとは、職種の専門性以外に、業種や環境が変わっても持ち運びできる職務遂行上のスキル</a:t>
            </a:r>
            <a:endParaRPr kumimoji="1" lang="en-US" altLang="ja-JP" sz="1400" b="1" i="1" dirty="0">
              <a:solidFill>
                <a:schemeClr val="tx1"/>
              </a:solidFill>
              <a:latin typeface="Meiryo UI" panose="020B0604030504040204" pitchFamily="50" charset="-128"/>
              <a:ea typeface="Meiryo UI" panose="020B0604030504040204" pitchFamily="50" charset="-128"/>
            </a:endParaRPr>
          </a:p>
          <a:p>
            <a:pPr algn="r"/>
            <a:r>
              <a:rPr kumimoji="1" lang="ja-JP" altLang="en-US" sz="1400" dirty="0">
                <a:solidFill>
                  <a:schemeClr val="tx1"/>
                </a:solidFill>
                <a:latin typeface="Meiryo UI" panose="020B0604030504040204" pitchFamily="50" charset="-128"/>
                <a:ea typeface="Meiryo UI" panose="020B0604030504040204" pitchFamily="50" charset="-128"/>
              </a:rPr>
              <a:t> </a:t>
            </a:r>
            <a:r>
              <a:rPr kumimoji="1" lang="en-US" altLang="ja-JP" sz="1200" dirty="0">
                <a:solidFill>
                  <a:schemeClr val="tx1"/>
                </a:solidFill>
                <a:latin typeface="Meiryo UI" panose="020B0604030504040204" pitchFamily="50" charset="-128"/>
                <a:ea typeface="Meiryo UI" panose="020B0604030504040204" pitchFamily="50" charset="-128"/>
              </a:rPr>
              <a:t>- </a:t>
            </a:r>
            <a:r>
              <a:rPr kumimoji="1" lang="ja-JP" altLang="en-US" sz="1200" dirty="0">
                <a:solidFill>
                  <a:schemeClr val="tx1"/>
                </a:solidFill>
                <a:latin typeface="Meiryo UI" panose="020B0604030504040204" pitchFamily="50" charset="-128"/>
                <a:ea typeface="Meiryo UI" panose="020B0604030504040204" pitchFamily="50" charset="-128"/>
              </a:rPr>
              <a:t>厚生労働省　</a:t>
            </a:r>
            <a:r>
              <a:rPr kumimoji="1" lang="en-US" altLang="ja-JP" sz="1200" dirty="0">
                <a:solidFill>
                  <a:schemeClr val="tx1"/>
                </a:solidFill>
                <a:latin typeface="Meiryo UI" panose="020B0604030504040204" pitchFamily="50" charset="-128"/>
                <a:ea typeface="Meiryo UI" panose="020B0604030504040204" pitchFamily="50" charset="-128"/>
              </a:rPr>
              <a:t> </a:t>
            </a:r>
            <a:r>
              <a:rPr kumimoji="1" lang="en-US" altLang="ja-JP" sz="900" dirty="0">
                <a:solidFill>
                  <a:schemeClr val="tx1"/>
                </a:solidFill>
                <a:latin typeface="Meiryo UI" panose="020B0604030504040204" pitchFamily="50" charset="-128"/>
                <a:ea typeface="Meiryo UI" panose="020B0604030504040204" pitchFamily="50" charset="-128"/>
              </a:rPr>
              <a:t>https://www.mhlw.go.jp/stf/newpage_23112.html</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 name="タイトル 1">
            <a:extLst>
              <a:ext uri="{FF2B5EF4-FFF2-40B4-BE49-F238E27FC236}">
                <a16:creationId xmlns:a16="http://schemas.microsoft.com/office/drawing/2014/main" id="{6E9B70D6-E0C4-652A-7AB6-094823B6D296}"/>
              </a:ext>
            </a:extLst>
          </p:cNvPr>
          <p:cNvSpPr txBox="1">
            <a:spLocks/>
          </p:cNvSpPr>
          <p:nvPr/>
        </p:nvSpPr>
        <p:spPr>
          <a:xfrm>
            <a:off x="751205" y="1363149"/>
            <a:ext cx="10801350" cy="693523"/>
          </a:xfrm>
          <a:prstGeom prst="rect">
            <a:avLst/>
          </a:prstGeom>
        </p:spPr>
        <p:txBody>
          <a:bodyPr vert="horz" lIns="91440" tIns="45720" rIns="91440" bIns="45720" rtlCol="0" anchor="b">
            <a:spAutoFit/>
          </a:bodyPr>
          <a:lstStyle>
            <a:lvl1pPr algn="l" defTabSz="914400" rtl="0" eaLnBrk="1" latinLnBrk="0" hangingPunct="1">
              <a:lnSpc>
                <a:spcPct val="90000"/>
              </a:lnSpc>
              <a:spcBef>
                <a:spcPct val="0"/>
              </a:spcBef>
              <a:buNone/>
              <a:defRPr kumimoji="1" sz="2400" b="1" kern="1200">
                <a:solidFill>
                  <a:schemeClr val="tx1">
                    <a:lumMod val="75000"/>
                    <a:lumOff val="25000"/>
                  </a:schemeClr>
                </a:solidFill>
                <a:latin typeface="Meiryo UI" panose="020B0604030504040204" pitchFamily="34" charset="-128"/>
                <a:ea typeface="Meiryo UI" panose="020B0604030504040204" pitchFamily="34" charset="-128"/>
                <a:cs typeface="+mj-cs"/>
              </a:defRPr>
            </a:lvl1pPr>
          </a:lstStyle>
          <a:p>
            <a:pPr algn="ctr">
              <a:lnSpc>
                <a:spcPct val="150000"/>
              </a:lnSpc>
            </a:pPr>
            <a:r>
              <a:rPr lang="ja-JP" altLang="en-US" sz="1400" dirty="0">
                <a:latin typeface="Meiryo UI" panose="020B0604030504040204" pitchFamily="50" charset="-128"/>
                <a:ea typeface="Meiryo UI" panose="020B0604030504040204" pitchFamily="50" charset="-128"/>
              </a:rPr>
              <a:t>専門知識やテクニカルスキルは特定の職種や業界に特化していますが、ポータブルスキルはどんな環境でも“価値”を発揮します</a:t>
            </a:r>
            <a:endParaRPr lang="en-US" altLang="ja-JP" sz="1400" dirty="0">
              <a:latin typeface="Meiryo UI" panose="020B0604030504040204" pitchFamily="50" charset="-128"/>
              <a:ea typeface="Meiryo UI" panose="020B0604030504040204" pitchFamily="50" charset="-128"/>
            </a:endParaRPr>
          </a:p>
          <a:p>
            <a:pPr algn="ctr">
              <a:lnSpc>
                <a:spcPct val="150000"/>
              </a:lnSpc>
            </a:pPr>
            <a:r>
              <a:rPr lang="ja-JP" altLang="en-US" sz="1400" dirty="0">
                <a:latin typeface="Meiryo UI" panose="020B0604030504040204" pitchFamily="50" charset="-128"/>
                <a:ea typeface="Meiryo UI" panose="020B0604030504040204" pitchFamily="50" charset="-128"/>
              </a:rPr>
              <a:t>近年、専門知識の陳腐化が加速する中、ポータブルスキルの重要性はかつてないほど高まっています</a:t>
            </a:r>
          </a:p>
        </p:txBody>
      </p:sp>
      <p:sp>
        <p:nvSpPr>
          <p:cNvPr id="6" name="四角形: 角を丸くする 5">
            <a:extLst>
              <a:ext uri="{FF2B5EF4-FFF2-40B4-BE49-F238E27FC236}">
                <a16:creationId xmlns:a16="http://schemas.microsoft.com/office/drawing/2014/main" id="{3F55C5F0-0972-D46E-8389-E2F83CC2D462}"/>
              </a:ext>
            </a:extLst>
          </p:cNvPr>
          <p:cNvSpPr/>
          <p:nvPr/>
        </p:nvSpPr>
        <p:spPr>
          <a:xfrm>
            <a:off x="319205" y="2072625"/>
            <a:ext cx="5474370" cy="2802399"/>
          </a:xfrm>
          <a:prstGeom prst="roundRect">
            <a:avLst/>
          </a:prstGeom>
          <a:solidFill>
            <a:schemeClr val="bg1"/>
          </a:solidFill>
          <a:ln>
            <a:solidFill>
              <a:schemeClr val="bg1">
                <a:lumMod val="75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400" b="1" dirty="0">
                <a:solidFill>
                  <a:srgbClr val="002060"/>
                </a:solidFill>
                <a:latin typeface="Meiryo UI" panose="020B0604030504040204" pitchFamily="50" charset="-128"/>
                <a:ea typeface="Meiryo UI" panose="020B0604030504040204" pitchFamily="50" charset="-128"/>
              </a:rPr>
              <a:t>代表的なポータブルスキル（一例）</a:t>
            </a:r>
          </a:p>
        </p:txBody>
      </p:sp>
      <p:cxnSp>
        <p:nvCxnSpPr>
          <p:cNvPr id="11" name="直線コネクタ 10">
            <a:extLst>
              <a:ext uri="{FF2B5EF4-FFF2-40B4-BE49-F238E27FC236}">
                <a16:creationId xmlns:a16="http://schemas.microsoft.com/office/drawing/2014/main" id="{61EDCA7A-68DF-CA05-64CB-AA92A37B1A28}"/>
              </a:ext>
            </a:extLst>
          </p:cNvPr>
          <p:cNvCxnSpPr/>
          <p:nvPr/>
        </p:nvCxnSpPr>
        <p:spPr>
          <a:xfrm>
            <a:off x="514298" y="2558763"/>
            <a:ext cx="5087849"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12" name="タイトル 1">
            <a:extLst>
              <a:ext uri="{FF2B5EF4-FFF2-40B4-BE49-F238E27FC236}">
                <a16:creationId xmlns:a16="http://schemas.microsoft.com/office/drawing/2014/main" id="{BEBAA524-E0D3-ABD1-FBCC-A26140820545}"/>
              </a:ext>
            </a:extLst>
          </p:cNvPr>
          <p:cNvSpPr txBox="1">
            <a:spLocks/>
          </p:cNvSpPr>
          <p:nvPr/>
        </p:nvSpPr>
        <p:spPr>
          <a:xfrm>
            <a:off x="514298" y="2702268"/>
            <a:ext cx="5180446" cy="1999073"/>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kumimoji="1" sz="2400" b="1" kern="1200">
                <a:solidFill>
                  <a:schemeClr val="tx1">
                    <a:lumMod val="75000"/>
                    <a:lumOff val="25000"/>
                  </a:schemeClr>
                </a:solidFill>
                <a:latin typeface="Meiryo UI" panose="020B0604030504040204" pitchFamily="34" charset="-128"/>
                <a:ea typeface="Meiryo UI" panose="020B0604030504040204" pitchFamily="34" charset="-128"/>
                <a:cs typeface="+mj-cs"/>
              </a:defRPr>
            </a:lvl1pPr>
          </a:lstStyle>
          <a:p>
            <a:pPr marL="171450" indent="-171450">
              <a:lnSpc>
                <a:spcPct val="150000"/>
              </a:lnSpc>
              <a:buFont typeface="Wingdings" panose="05000000000000000000" pitchFamily="2" charset="2"/>
              <a:buChar char="ü"/>
            </a:pPr>
            <a:r>
              <a:rPr lang="ja-JP" altLang="en-US" sz="1100" dirty="0">
                <a:latin typeface="Meiryo UI" panose="020B0604030504040204" pitchFamily="50" charset="-128"/>
                <a:ea typeface="Meiryo UI" panose="020B0604030504040204" pitchFamily="50" charset="-128"/>
              </a:rPr>
              <a:t>目的・目標設定：何を達成したいのかを明確にし、具体的な目標を設定する能力</a:t>
            </a:r>
            <a:br>
              <a:rPr lang="en-US" altLang="ja-JP"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ja-JP" altLang="en-US" sz="1100" dirty="0">
                <a:solidFill>
                  <a:srgbClr val="00B050"/>
                </a:solidFill>
                <a:latin typeface="Meiryo UI" panose="020B0604030504040204" pitchFamily="50" charset="-128"/>
                <a:ea typeface="Meiryo UI" panose="020B0604030504040204" pitchFamily="50" charset="-128"/>
              </a:rPr>
              <a:t>方向性が明確になり、効率的に行動でき、成果を数値化して評価可能になる</a:t>
            </a:r>
            <a:endParaRPr lang="en-US" altLang="ja-JP" sz="1100" dirty="0">
              <a:solidFill>
                <a:srgbClr val="00B050"/>
              </a:solidFill>
              <a:latin typeface="Meiryo UI" panose="020B0604030504040204" pitchFamily="50" charset="-128"/>
              <a:ea typeface="Meiryo UI" panose="020B0604030504040204" pitchFamily="50" charset="-128"/>
            </a:endParaRPr>
          </a:p>
          <a:p>
            <a:pPr marL="171450" indent="-171450">
              <a:lnSpc>
                <a:spcPct val="150000"/>
              </a:lnSpc>
              <a:buFont typeface="Wingdings" panose="05000000000000000000" pitchFamily="2" charset="2"/>
              <a:buChar char="ü"/>
            </a:pPr>
            <a:r>
              <a:rPr lang="ja-JP" altLang="en-US" sz="1100" dirty="0">
                <a:latin typeface="Meiryo UI" panose="020B0604030504040204" pitchFamily="50" charset="-128"/>
                <a:ea typeface="Meiryo UI" panose="020B0604030504040204" pitchFamily="50" charset="-128"/>
              </a:rPr>
              <a:t>現状分析：現在の状況を客観的に把握し、データや事実に基づいて評価する能力</a:t>
            </a:r>
            <a:br>
              <a:rPr lang="en-US" altLang="ja-JP"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ja-JP" altLang="en-US" sz="1100" dirty="0">
                <a:solidFill>
                  <a:srgbClr val="00B050"/>
                </a:solidFill>
                <a:latin typeface="Meiryo UI" panose="020B0604030504040204" pitchFamily="50" charset="-128"/>
                <a:ea typeface="Meiryo UI" panose="020B0604030504040204" pitchFamily="50" charset="-128"/>
              </a:rPr>
              <a:t>適切な判断の基礎となり、問題の本質を見極めることができる</a:t>
            </a:r>
            <a:endParaRPr lang="en-US" altLang="ja-JP" sz="1100" dirty="0">
              <a:solidFill>
                <a:srgbClr val="00B050"/>
              </a:solidFill>
              <a:latin typeface="Meiryo UI" panose="020B0604030504040204" pitchFamily="50" charset="-128"/>
              <a:ea typeface="Meiryo UI" panose="020B0604030504040204" pitchFamily="50" charset="-128"/>
            </a:endParaRPr>
          </a:p>
          <a:p>
            <a:pPr marL="171450" indent="-171450">
              <a:lnSpc>
                <a:spcPct val="150000"/>
              </a:lnSpc>
              <a:buFont typeface="Wingdings" panose="05000000000000000000" pitchFamily="2" charset="2"/>
              <a:buChar char="ü"/>
            </a:pPr>
            <a:r>
              <a:rPr lang="ja-JP" altLang="en-US" sz="1100" dirty="0">
                <a:latin typeface="Meiryo UI" panose="020B0604030504040204" pitchFamily="50" charset="-128"/>
                <a:ea typeface="Meiryo UI" panose="020B0604030504040204" pitchFamily="50" charset="-128"/>
              </a:rPr>
              <a:t>戦略設定：目標達成のための最適な方法や手順を計画する能力</a:t>
            </a:r>
            <a:br>
              <a:rPr lang="en-US" altLang="ja-JP"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ja-JP" altLang="en-US" sz="1100" dirty="0">
                <a:solidFill>
                  <a:srgbClr val="00B050"/>
                </a:solidFill>
                <a:latin typeface="Meiryo UI" panose="020B0604030504040204" pitchFamily="50" charset="-128"/>
                <a:ea typeface="Meiryo UI" panose="020B0604030504040204" pitchFamily="50" charset="-128"/>
              </a:rPr>
              <a:t>リソースを効率的に活用でき、目標達成の確率が高まる</a:t>
            </a:r>
            <a:endParaRPr lang="en-US" altLang="ja-JP" sz="1100" dirty="0">
              <a:solidFill>
                <a:srgbClr val="00B050"/>
              </a:solidFill>
              <a:latin typeface="Meiryo UI" panose="020B0604030504040204" pitchFamily="50" charset="-128"/>
              <a:ea typeface="Meiryo UI" panose="020B0604030504040204" pitchFamily="50" charset="-128"/>
            </a:endParaRPr>
          </a:p>
          <a:p>
            <a:pPr marL="171450" indent="-171450">
              <a:lnSpc>
                <a:spcPct val="150000"/>
              </a:lnSpc>
              <a:buFont typeface="Wingdings" panose="05000000000000000000" pitchFamily="2" charset="2"/>
              <a:buChar char="ü"/>
            </a:pPr>
            <a:r>
              <a:rPr lang="ja-JP" altLang="en-US" sz="1100" dirty="0">
                <a:latin typeface="Meiryo UI" panose="020B0604030504040204" pitchFamily="50" charset="-128"/>
                <a:ea typeface="Meiryo UI" panose="020B0604030504040204" pitchFamily="50" charset="-128"/>
              </a:rPr>
              <a:t>問題解決：障害や困難を特定し、解決策を考案・実行する能力</a:t>
            </a:r>
            <a:br>
              <a:rPr lang="en-US" altLang="ja-JP" sz="1100" dirty="0">
                <a:latin typeface="Meiryo UI" panose="020B0604030504040204" pitchFamily="50" charset="-128"/>
                <a:ea typeface="Meiryo UI" panose="020B0604030504040204" pitchFamily="50" charset="-128"/>
              </a:rPr>
            </a:br>
            <a:r>
              <a:rPr lang="ja-JP" altLang="en-US" sz="1100" dirty="0">
                <a:latin typeface="Meiryo UI" panose="020B0604030504040204" pitchFamily="50" charset="-128"/>
                <a:ea typeface="Meiryo UI" panose="020B0604030504040204" pitchFamily="50" charset="-128"/>
              </a:rPr>
              <a:t>→　</a:t>
            </a:r>
            <a:r>
              <a:rPr lang="ja-JP" altLang="en-US" sz="1100" dirty="0">
                <a:solidFill>
                  <a:srgbClr val="00B050"/>
                </a:solidFill>
                <a:latin typeface="Meiryo UI" panose="020B0604030504040204" pitchFamily="50" charset="-128"/>
                <a:ea typeface="Meiryo UI" panose="020B0604030504040204" pitchFamily="50" charset="-128"/>
              </a:rPr>
              <a:t>業務の停滞を防ぎ、組織の生産性向上に貢献できる</a:t>
            </a:r>
            <a:endParaRPr lang="en-US" altLang="ja-JP" sz="1100" dirty="0">
              <a:latin typeface="Meiryo UI" panose="020B0604030504040204" pitchFamily="50" charset="-128"/>
              <a:ea typeface="Meiryo UI" panose="020B0604030504040204" pitchFamily="50" charset="-128"/>
            </a:endParaRPr>
          </a:p>
        </p:txBody>
      </p:sp>
      <p:sp>
        <p:nvSpPr>
          <p:cNvPr id="13" name="四角形: 角を丸くする 12">
            <a:extLst>
              <a:ext uri="{FF2B5EF4-FFF2-40B4-BE49-F238E27FC236}">
                <a16:creationId xmlns:a16="http://schemas.microsoft.com/office/drawing/2014/main" id="{EA11730E-D979-0E5F-8057-756BE2831488}"/>
              </a:ext>
            </a:extLst>
          </p:cNvPr>
          <p:cNvSpPr/>
          <p:nvPr/>
        </p:nvSpPr>
        <p:spPr>
          <a:xfrm>
            <a:off x="284479" y="4939577"/>
            <a:ext cx="11588315" cy="1833238"/>
          </a:xfrm>
          <a:prstGeom prst="roundRect">
            <a:avLst/>
          </a:prstGeom>
          <a:solidFill>
            <a:schemeClr val="bg1"/>
          </a:solidFill>
          <a:ln>
            <a:solidFill>
              <a:schemeClr val="bg1">
                <a:lumMod val="75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kumimoji="1" lang="ja-JP" altLang="en-US" sz="1400" b="1" dirty="0">
                <a:solidFill>
                  <a:srgbClr val="002060"/>
                </a:solidFill>
                <a:latin typeface="Meiryo UI" panose="020B0604030504040204" pitchFamily="50" charset="-128"/>
                <a:ea typeface="Meiryo UI" panose="020B0604030504040204" pitchFamily="50" charset="-128"/>
              </a:rPr>
              <a:t>トレンド</a:t>
            </a:r>
          </a:p>
        </p:txBody>
      </p:sp>
      <p:sp>
        <p:nvSpPr>
          <p:cNvPr id="14" name="四角形: 角を丸くする 13">
            <a:extLst>
              <a:ext uri="{FF2B5EF4-FFF2-40B4-BE49-F238E27FC236}">
                <a16:creationId xmlns:a16="http://schemas.microsoft.com/office/drawing/2014/main" id="{8AF46ED3-C127-354A-E7EA-811A2F882F89}"/>
              </a:ext>
            </a:extLst>
          </p:cNvPr>
          <p:cNvSpPr/>
          <p:nvPr/>
        </p:nvSpPr>
        <p:spPr>
          <a:xfrm>
            <a:off x="6398427" y="2072625"/>
            <a:ext cx="5474370" cy="2802399"/>
          </a:xfrm>
          <a:prstGeom prst="roundRect">
            <a:avLst/>
          </a:prstGeom>
          <a:solidFill>
            <a:schemeClr val="bg1"/>
          </a:solidFill>
          <a:ln>
            <a:solidFill>
              <a:schemeClr val="bg1">
                <a:lumMod val="75000"/>
              </a:schemeClr>
            </a:solidFill>
          </a:ln>
          <a:effectLst>
            <a:outerShdw blurRad="190500" dist="228600" dir="2700000" algn="ctr">
              <a:srgbClr val="000000">
                <a:alpha val="30000"/>
              </a:srgbClr>
            </a:outerShdw>
          </a:effectLst>
          <a:scene3d>
            <a:camera prst="orthographicFront">
              <a:rot lat="0" lon="0" rev="0"/>
            </a:camera>
            <a:lightRig rig="glow" dir="t">
              <a:rot lat="0" lon="0" rev="4800000"/>
            </a:lightRig>
          </a:scene3d>
          <a:sp3d prstMaterial="matte">
            <a:bevelT w="127000" h="63500"/>
          </a:sp3d>
        </p:spPr>
        <p:style>
          <a:lnRef idx="2">
            <a:schemeClr val="accent1">
              <a:shade val="15000"/>
            </a:schemeClr>
          </a:lnRef>
          <a:fillRef idx="1">
            <a:schemeClr val="accent1"/>
          </a:fillRef>
          <a:effectRef idx="0">
            <a:schemeClr val="accent1"/>
          </a:effectRef>
          <a:fontRef idx="minor">
            <a:schemeClr val="lt1"/>
          </a:fontRef>
        </p:style>
        <p:txBody>
          <a:bodyPr rtlCol="0" anchor="t"/>
          <a:lstStyle/>
          <a:p>
            <a:r>
              <a:rPr lang="ja-JP" altLang="en-US" sz="1400" b="1" dirty="0">
                <a:solidFill>
                  <a:srgbClr val="002060"/>
                </a:solidFill>
                <a:latin typeface="Meiryo UI" panose="020B0604030504040204" pitchFamily="50" charset="-128"/>
                <a:ea typeface="Meiryo UI" panose="020B0604030504040204" pitchFamily="50" charset="-128"/>
              </a:rPr>
              <a:t>効果</a:t>
            </a:r>
            <a:r>
              <a:rPr lang="ja-JP" altLang="en-US" sz="1050" b="1" dirty="0">
                <a:solidFill>
                  <a:srgbClr val="002060"/>
                </a:solidFill>
                <a:latin typeface="Meiryo UI" panose="020B0604030504040204" pitchFamily="50" charset="-128"/>
                <a:ea typeface="Meiryo UI" panose="020B0604030504040204" pitchFamily="50" charset="-128"/>
              </a:rPr>
              <a:t>　</a:t>
            </a:r>
            <a:r>
              <a:rPr lang="en-US" altLang="ja-JP" sz="1050" b="1" dirty="0">
                <a:solidFill>
                  <a:srgbClr val="002060"/>
                </a:solidFill>
                <a:latin typeface="Meiryo UI" panose="020B0604030504040204" pitchFamily="50" charset="-128"/>
                <a:ea typeface="Meiryo UI" panose="020B0604030504040204" pitchFamily="50" charset="-128"/>
              </a:rPr>
              <a:t>※</a:t>
            </a:r>
            <a:r>
              <a:rPr lang="ja-JP" altLang="en-US" sz="1050" b="1" dirty="0">
                <a:solidFill>
                  <a:srgbClr val="002060"/>
                </a:solidFill>
                <a:latin typeface="Meiryo UI" panose="020B0604030504040204" pitchFamily="50" charset="-128"/>
                <a:ea typeface="Meiryo UI" panose="020B0604030504040204" pitchFamily="50" charset="-128"/>
              </a:rPr>
              <a:t>参考文献などは次ページ</a:t>
            </a:r>
            <a:endParaRPr kumimoji="1" lang="ja-JP" altLang="en-US" sz="1400" b="1" dirty="0">
              <a:solidFill>
                <a:srgbClr val="002060"/>
              </a:solidFill>
              <a:latin typeface="Meiryo UI" panose="020B0604030504040204" pitchFamily="50" charset="-128"/>
              <a:ea typeface="Meiryo UI" panose="020B0604030504040204" pitchFamily="50" charset="-128"/>
            </a:endParaRPr>
          </a:p>
        </p:txBody>
      </p:sp>
      <p:cxnSp>
        <p:nvCxnSpPr>
          <p:cNvPr id="15" name="直線コネクタ 14">
            <a:extLst>
              <a:ext uri="{FF2B5EF4-FFF2-40B4-BE49-F238E27FC236}">
                <a16:creationId xmlns:a16="http://schemas.microsoft.com/office/drawing/2014/main" id="{5914A3AC-695B-754D-520A-A48068D79450}"/>
              </a:ext>
            </a:extLst>
          </p:cNvPr>
          <p:cNvCxnSpPr/>
          <p:nvPr/>
        </p:nvCxnSpPr>
        <p:spPr>
          <a:xfrm>
            <a:off x="6593520" y="2558763"/>
            <a:ext cx="5087849"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16" name="タイトル 1">
            <a:extLst>
              <a:ext uri="{FF2B5EF4-FFF2-40B4-BE49-F238E27FC236}">
                <a16:creationId xmlns:a16="http://schemas.microsoft.com/office/drawing/2014/main" id="{123EA7DE-C3BF-9F78-1E48-FD839F24654B}"/>
              </a:ext>
            </a:extLst>
          </p:cNvPr>
          <p:cNvSpPr txBox="1">
            <a:spLocks/>
          </p:cNvSpPr>
          <p:nvPr/>
        </p:nvSpPr>
        <p:spPr>
          <a:xfrm>
            <a:off x="6593520" y="2558762"/>
            <a:ext cx="5180446" cy="2286084"/>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kumimoji="1" sz="2400" b="1" kern="1200">
                <a:solidFill>
                  <a:schemeClr val="tx1">
                    <a:lumMod val="75000"/>
                    <a:lumOff val="25000"/>
                  </a:schemeClr>
                </a:solidFill>
                <a:latin typeface="Meiryo UI" panose="020B0604030504040204" pitchFamily="34" charset="-128"/>
                <a:ea typeface="Meiryo UI" panose="020B0604030504040204" pitchFamily="34" charset="-128"/>
                <a:cs typeface="+mj-cs"/>
              </a:defRPr>
            </a:lvl1pPr>
          </a:lstStyle>
          <a:p>
            <a:pPr marL="171450" indent="-171450">
              <a:lnSpc>
                <a:spcPct val="150000"/>
              </a:lnSpc>
              <a:buFont typeface="Wingdings" panose="05000000000000000000" pitchFamily="2" charset="2"/>
              <a:buChar char="ü"/>
            </a:pPr>
            <a:r>
              <a:rPr lang="ja-JP" altLang="en-US" sz="1100" dirty="0">
                <a:latin typeface="Meiryo UI" panose="020B0604030504040204" pitchFamily="50" charset="-128"/>
                <a:ea typeface="Meiryo UI" panose="020B0604030504040204" pitchFamily="50" charset="-128"/>
              </a:rPr>
              <a:t>業績・生産性向上：</a:t>
            </a:r>
            <a:br>
              <a:rPr lang="en-US" altLang="ja-JP" sz="1100" dirty="0">
                <a:latin typeface="Meiryo UI" panose="020B0604030504040204" pitchFamily="50" charset="-128"/>
                <a:ea typeface="Meiryo UI" panose="020B0604030504040204" pitchFamily="50" charset="-128"/>
              </a:rPr>
            </a:br>
            <a:r>
              <a:rPr lang="ja-JP" altLang="en-US" sz="1100" b="0" dirty="0">
                <a:latin typeface="Meiryo UI" panose="020B0604030504040204" pitchFamily="50" charset="-128"/>
                <a:ea typeface="Meiryo UI" panose="020B0604030504040204" pitchFamily="50" charset="-128"/>
              </a:rPr>
              <a:t>スキルベース文化を構築した企業は、そうでない企業より</a:t>
            </a:r>
            <a:r>
              <a:rPr lang="en-US" altLang="ja-JP" sz="1100" dirty="0">
                <a:solidFill>
                  <a:srgbClr val="0070C0"/>
                </a:solidFill>
                <a:latin typeface="Meiryo UI" panose="020B0604030504040204" pitchFamily="50" charset="-128"/>
                <a:ea typeface="Meiryo UI" panose="020B0604030504040204" pitchFamily="50" charset="-128"/>
              </a:rPr>
              <a:t>63%</a:t>
            </a:r>
            <a:r>
              <a:rPr lang="ja-JP" altLang="en-US" sz="1100" dirty="0">
                <a:solidFill>
                  <a:srgbClr val="0070C0"/>
                </a:solidFill>
                <a:latin typeface="Meiryo UI" panose="020B0604030504040204" pitchFamily="50" charset="-128"/>
                <a:ea typeface="Meiryo UI" panose="020B0604030504040204" pitchFamily="50" charset="-128"/>
              </a:rPr>
              <a:t>高い確率で主要業績目標を達成</a:t>
            </a:r>
            <a:r>
              <a:rPr lang="ja-JP" altLang="en-US" sz="1100" dirty="0">
                <a:latin typeface="Meiryo UI" panose="020B0604030504040204" pitchFamily="50" charset="-128"/>
                <a:ea typeface="Meiryo UI" panose="020B0604030504040204" pitchFamily="50" charset="-128"/>
              </a:rPr>
              <a:t>。また、</a:t>
            </a:r>
            <a:r>
              <a:rPr lang="en-US" altLang="ja-JP" sz="1100" dirty="0">
                <a:solidFill>
                  <a:srgbClr val="0070C0"/>
                </a:solidFill>
                <a:latin typeface="Meiryo UI" panose="020B0604030504040204" pitchFamily="50" charset="-128"/>
                <a:ea typeface="Meiryo UI" panose="020B0604030504040204" pitchFamily="50" charset="-128"/>
              </a:rPr>
              <a:t>49%</a:t>
            </a:r>
            <a:r>
              <a:rPr lang="ja-JP" altLang="en-US" sz="1100" dirty="0">
                <a:solidFill>
                  <a:srgbClr val="0070C0"/>
                </a:solidFill>
                <a:latin typeface="Meiryo UI" panose="020B0604030504040204" pitchFamily="50" charset="-128"/>
                <a:ea typeface="Meiryo UI" panose="020B0604030504040204" pitchFamily="50" charset="-128"/>
              </a:rPr>
              <a:t>が業務プロセス効率を改善</a:t>
            </a:r>
            <a:endParaRPr lang="en-US" altLang="ja-JP" sz="1100" dirty="0">
              <a:solidFill>
                <a:srgbClr val="0070C0"/>
              </a:solidFill>
              <a:latin typeface="Meiryo UI" panose="020B0604030504040204" pitchFamily="50" charset="-128"/>
              <a:ea typeface="Meiryo UI" panose="020B0604030504040204" pitchFamily="50" charset="-128"/>
            </a:endParaRPr>
          </a:p>
          <a:p>
            <a:pPr marL="171450" indent="-171450">
              <a:lnSpc>
                <a:spcPct val="150000"/>
              </a:lnSpc>
              <a:buFont typeface="Wingdings" panose="05000000000000000000" pitchFamily="2" charset="2"/>
              <a:buChar char="ü"/>
            </a:pPr>
            <a:r>
              <a:rPr lang="ja-JP" altLang="en-US" sz="1100" dirty="0">
                <a:latin typeface="Meiryo UI" panose="020B0604030504040204" pitchFamily="50" charset="-128"/>
                <a:ea typeface="Meiryo UI" panose="020B0604030504040204" pitchFamily="50" charset="-128"/>
              </a:rPr>
              <a:t>人材獲得・定着：</a:t>
            </a:r>
            <a:br>
              <a:rPr lang="en-US" altLang="ja-JP" sz="1100" dirty="0">
                <a:latin typeface="Meiryo UI" panose="020B0604030504040204" pitchFamily="50" charset="-128"/>
                <a:ea typeface="Meiryo UI" panose="020B0604030504040204" pitchFamily="50" charset="-128"/>
              </a:rPr>
            </a:br>
            <a:r>
              <a:rPr lang="ja-JP" altLang="en-US" sz="1100" b="0" dirty="0">
                <a:solidFill>
                  <a:schemeClr val="tx1"/>
                </a:solidFill>
                <a:latin typeface="Meiryo UI" panose="020B0604030504040204" pitchFamily="50" charset="-128"/>
                <a:ea typeface="Meiryo UI" panose="020B0604030504040204" pitchFamily="50" charset="-128"/>
              </a:rPr>
              <a:t>スキルベースアプローチを導入した企業は、</a:t>
            </a:r>
            <a:r>
              <a:rPr lang="en-US" altLang="ja-JP" sz="1100" dirty="0">
                <a:solidFill>
                  <a:srgbClr val="0070C0"/>
                </a:solidFill>
                <a:latin typeface="Meiryo UI" panose="020B0604030504040204" pitchFamily="50" charset="-128"/>
                <a:ea typeface="Meiryo UI" panose="020B0604030504040204" pitchFamily="50" charset="-128"/>
              </a:rPr>
              <a:t>98%</a:t>
            </a:r>
            <a:r>
              <a:rPr lang="ja-JP" altLang="en-US" sz="1100" dirty="0">
                <a:solidFill>
                  <a:srgbClr val="0070C0"/>
                </a:solidFill>
                <a:latin typeface="Meiryo UI" panose="020B0604030504040204" pitchFamily="50" charset="-128"/>
                <a:ea typeface="Meiryo UI" panose="020B0604030504040204" pitchFamily="50" charset="-128"/>
              </a:rPr>
              <a:t>がハイパフォーマーを維持</a:t>
            </a:r>
            <a:r>
              <a:rPr lang="ja-JP" altLang="en-US" sz="1100" dirty="0">
                <a:solidFill>
                  <a:schemeClr val="tx1"/>
                </a:solidFill>
                <a:latin typeface="Meiryo UI" panose="020B0604030504040204" pitchFamily="50" charset="-128"/>
                <a:ea typeface="Meiryo UI" panose="020B0604030504040204" pitchFamily="50" charset="-128"/>
              </a:rPr>
              <a:t>、</a:t>
            </a:r>
            <a:r>
              <a:rPr lang="en-US" altLang="ja-JP" sz="1100" dirty="0">
                <a:solidFill>
                  <a:srgbClr val="0070C0"/>
                </a:solidFill>
                <a:latin typeface="Meiryo UI" panose="020B0604030504040204" pitchFamily="50" charset="-128"/>
                <a:ea typeface="Meiryo UI" panose="020B0604030504040204" pitchFamily="50" charset="-128"/>
              </a:rPr>
              <a:t>107%</a:t>
            </a:r>
            <a:r>
              <a:rPr lang="ja-JP" altLang="en-US" sz="1100" dirty="0">
                <a:solidFill>
                  <a:srgbClr val="0070C0"/>
                </a:solidFill>
                <a:latin typeface="Meiryo UI" panose="020B0604030504040204" pitchFamily="50" charset="-128"/>
                <a:ea typeface="Meiryo UI" panose="020B0604030504040204" pitchFamily="50" charset="-128"/>
              </a:rPr>
              <a:t>が人材配置の最適化に成功</a:t>
            </a:r>
            <a:r>
              <a:rPr lang="ja-JP" altLang="en-US" sz="1100" b="0" dirty="0">
                <a:solidFill>
                  <a:schemeClr val="tx1"/>
                </a:solidFill>
                <a:latin typeface="Meiryo UI" panose="020B0604030504040204" pitchFamily="50" charset="-128"/>
                <a:ea typeface="Meiryo UI" panose="020B0604030504040204" pitchFamily="50" charset="-128"/>
              </a:rPr>
              <a:t>。また、</a:t>
            </a:r>
            <a:r>
              <a:rPr lang="en-US" altLang="ja-JP" sz="1100" dirty="0">
                <a:solidFill>
                  <a:srgbClr val="0070C0"/>
                </a:solidFill>
                <a:latin typeface="Meiryo UI" panose="020B0604030504040204" pitchFamily="50" charset="-128"/>
                <a:ea typeface="Meiryo UI" panose="020B0604030504040204" pitchFamily="50" charset="-128"/>
              </a:rPr>
              <a:t>79%</a:t>
            </a:r>
            <a:r>
              <a:rPr lang="ja-JP" altLang="en-US" sz="1100" dirty="0">
                <a:solidFill>
                  <a:srgbClr val="0070C0"/>
                </a:solidFill>
                <a:latin typeface="Meiryo UI" panose="020B0604030504040204" pitchFamily="50" charset="-128"/>
                <a:ea typeface="Meiryo UI" panose="020B0604030504040204" pitchFamily="50" charset="-128"/>
              </a:rPr>
              <a:t>の従業員が前向きな職場体験</a:t>
            </a:r>
            <a:r>
              <a:rPr lang="ja-JP" altLang="en-US" sz="1100" b="0" dirty="0">
                <a:latin typeface="Meiryo UI" panose="020B0604030504040204" pitchFamily="50" charset="-128"/>
                <a:ea typeface="Meiryo UI" panose="020B0604030504040204" pitchFamily="50" charset="-128"/>
              </a:rPr>
              <a:t>を実感</a:t>
            </a:r>
            <a:endParaRPr lang="en-US" altLang="ja-JP" sz="1100" b="0" dirty="0">
              <a:latin typeface="Meiryo UI" panose="020B0604030504040204" pitchFamily="50" charset="-128"/>
              <a:ea typeface="Meiryo UI" panose="020B0604030504040204" pitchFamily="50" charset="-128"/>
            </a:endParaRPr>
          </a:p>
          <a:p>
            <a:pPr marL="171450" indent="-171450">
              <a:lnSpc>
                <a:spcPct val="150000"/>
              </a:lnSpc>
              <a:buFont typeface="Wingdings" panose="05000000000000000000" pitchFamily="2" charset="2"/>
              <a:buChar char="ü"/>
            </a:pPr>
            <a:r>
              <a:rPr lang="ja-JP" altLang="en-US" sz="1100" dirty="0">
                <a:latin typeface="Meiryo UI" panose="020B0604030504040204" pitchFamily="50" charset="-128"/>
                <a:ea typeface="Meiryo UI" panose="020B0604030504040204" pitchFamily="50" charset="-128"/>
              </a:rPr>
              <a:t>組織の柔軟性・変化対応力：</a:t>
            </a:r>
            <a:r>
              <a:rPr lang="ja-JP" altLang="en-US" sz="1100" b="0" i="0" dirty="0">
                <a:effectLst/>
                <a:latin typeface="Meiryo UI" panose="020B0604030504040204" pitchFamily="50" charset="-128"/>
                <a:ea typeface="Meiryo UI" panose="020B0604030504040204" pitchFamily="50" charset="-128"/>
              </a:rPr>
              <a:t>スキルベース組織は</a:t>
            </a:r>
            <a:r>
              <a:rPr lang="en-US" altLang="ja-JP" sz="1100" i="0" dirty="0">
                <a:solidFill>
                  <a:srgbClr val="0070C0"/>
                </a:solidFill>
                <a:effectLst/>
                <a:latin typeface="Meiryo UI" panose="020B0604030504040204" pitchFamily="50" charset="-128"/>
                <a:ea typeface="Meiryo UI" panose="020B0604030504040204" pitchFamily="50" charset="-128"/>
              </a:rPr>
              <a:t>57%</a:t>
            </a:r>
            <a:r>
              <a:rPr lang="ja-JP" altLang="en-US" sz="1100" i="0" dirty="0">
                <a:solidFill>
                  <a:srgbClr val="0070C0"/>
                </a:solidFill>
                <a:effectLst/>
                <a:latin typeface="Meiryo UI" panose="020B0604030504040204" pitchFamily="50" charset="-128"/>
                <a:ea typeface="Meiryo UI" panose="020B0604030504040204" pitchFamily="50" charset="-128"/>
              </a:rPr>
              <a:t>高い確率で機動的に変化対応</a:t>
            </a:r>
            <a:r>
              <a:rPr lang="ja-JP" altLang="en-US" sz="1100" b="0" i="0" dirty="0">
                <a:effectLst/>
                <a:latin typeface="Meiryo UI" panose="020B0604030504040204" pitchFamily="50" charset="-128"/>
                <a:ea typeface="Meiryo UI" panose="020B0604030504040204" pitchFamily="50" charset="-128"/>
              </a:rPr>
              <a:t>。適応力の高い組織は、</a:t>
            </a:r>
            <a:r>
              <a:rPr lang="en-US" altLang="ja-JP" sz="1100" i="0" dirty="0">
                <a:solidFill>
                  <a:srgbClr val="0070C0"/>
                </a:solidFill>
                <a:effectLst/>
                <a:latin typeface="Meiryo UI" panose="020B0604030504040204" pitchFamily="50" charset="-128"/>
                <a:ea typeface="Meiryo UI" panose="020B0604030504040204" pitchFamily="50" charset="-128"/>
              </a:rPr>
              <a:t>3.5</a:t>
            </a:r>
            <a:r>
              <a:rPr lang="ja-JP" altLang="en-US" sz="1100" i="0" dirty="0">
                <a:solidFill>
                  <a:srgbClr val="0070C0"/>
                </a:solidFill>
                <a:effectLst/>
                <a:latin typeface="Meiryo UI" panose="020B0604030504040204" pitchFamily="50" charset="-128"/>
                <a:ea typeface="Meiryo UI" panose="020B0604030504040204" pitchFamily="50" charset="-128"/>
              </a:rPr>
              <a:t>倍高い確率で競合他社を上回る業績</a:t>
            </a:r>
            <a:r>
              <a:rPr lang="ja-JP" altLang="en-US" sz="1100" b="0" i="0" dirty="0">
                <a:effectLst/>
                <a:latin typeface="Meiryo UI" panose="020B0604030504040204" pitchFamily="50" charset="-128"/>
                <a:ea typeface="Meiryo UI" panose="020B0604030504040204" pitchFamily="50" charset="-128"/>
              </a:rPr>
              <a:t>を達成</a:t>
            </a:r>
            <a:br>
              <a:rPr lang="en-US" altLang="ja-JP" sz="1100" dirty="0">
                <a:latin typeface="Meiryo UI" panose="020B0604030504040204" pitchFamily="50" charset="-128"/>
                <a:ea typeface="Meiryo UI" panose="020B0604030504040204" pitchFamily="50" charset="-128"/>
              </a:rPr>
            </a:br>
            <a:endParaRPr lang="en-US" altLang="ja-JP" sz="1100" dirty="0">
              <a:latin typeface="Meiryo UI" panose="020B0604030504040204" pitchFamily="50" charset="-128"/>
              <a:ea typeface="Meiryo UI" panose="020B0604030504040204" pitchFamily="50" charset="-128"/>
            </a:endParaRPr>
          </a:p>
        </p:txBody>
      </p:sp>
      <p:cxnSp>
        <p:nvCxnSpPr>
          <p:cNvPr id="17" name="直線コネクタ 16">
            <a:extLst>
              <a:ext uri="{FF2B5EF4-FFF2-40B4-BE49-F238E27FC236}">
                <a16:creationId xmlns:a16="http://schemas.microsoft.com/office/drawing/2014/main" id="{7B56469E-701D-C23C-79F0-8B9CA8423A76}"/>
              </a:ext>
            </a:extLst>
          </p:cNvPr>
          <p:cNvCxnSpPr>
            <a:cxnSpLocks/>
          </p:cNvCxnSpPr>
          <p:nvPr/>
        </p:nvCxnSpPr>
        <p:spPr>
          <a:xfrm>
            <a:off x="468161" y="5379258"/>
            <a:ext cx="11084394" cy="0"/>
          </a:xfrm>
          <a:prstGeom prst="line">
            <a:avLst/>
          </a:prstGeom>
          <a:ln>
            <a:solidFill>
              <a:srgbClr val="FFC000"/>
            </a:solidFill>
          </a:ln>
        </p:spPr>
        <p:style>
          <a:lnRef idx="2">
            <a:schemeClr val="accent1"/>
          </a:lnRef>
          <a:fillRef idx="0">
            <a:schemeClr val="accent1"/>
          </a:fillRef>
          <a:effectRef idx="1">
            <a:schemeClr val="accent1"/>
          </a:effectRef>
          <a:fontRef idx="minor">
            <a:schemeClr val="tx1"/>
          </a:fontRef>
        </p:style>
      </p:cxnSp>
      <p:sp>
        <p:nvSpPr>
          <p:cNvPr id="19" name="タイトル 1">
            <a:extLst>
              <a:ext uri="{FF2B5EF4-FFF2-40B4-BE49-F238E27FC236}">
                <a16:creationId xmlns:a16="http://schemas.microsoft.com/office/drawing/2014/main" id="{4F804CA7-78C7-EC7C-6C77-2F52F3C90F9A}"/>
              </a:ext>
            </a:extLst>
          </p:cNvPr>
          <p:cNvSpPr txBox="1">
            <a:spLocks/>
          </p:cNvSpPr>
          <p:nvPr/>
        </p:nvSpPr>
        <p:spPr>
          <a:xfrm>
            <a:off x="421700" y="5413030"/>
            <a:ext cx="11352265" cy="1359786"/>
          </a:xfrm>
          <a:prstGeom prst="rect">
            <a:avLst/>
          </a:prstGeom>
        </p:spPr>
        <p:txBody>
          <a:bodyPr vert="horz" wrap="square" lIns="91440" tIns="45720" rIns="91440" bIns="45720" rtlCol="0" anchor="t">
            <a:noAutofit/>
          </a:bodyPr>
          <a:lstStyle>
            <a:lvl1pPr algn="l" defTabSz="914400" rtl="0" eaLnBrk="1" latinLnBrk="0" hangingPunct="1">
              <a:lnSpc>
                <a:spcPct val="90000"/>
              </a:lnSpc>
              <a:spcBef>
                <a:spcPct val="0"/>
              </a:spcBef>
              <a:buNone/>
              <a:defRPr kumimoji="1" sz="2400" b="1" kern="1200">
                <a:solidFill>
                  <a:schemeClr val="tx1">
                    <a:lumMod val="75000"/>
                    <a:lumOff val="25000"/>
                  </a:schemeClr>
                </a:solidFill>
                <a:latin typeface="Meiryo UI" panose="020B0604030504040204" pitchFamily="34" charset="-128"/>
                <a:ea typeface="Meiryo UI" panose="020B0604030504040204" pitchFamily="34" charset="-128"/>
                <a:cs typeface="+mj-cs"/>
              </a:defRPr>
            </a:lvl1pPr>
          </a:lstStyle>
          <a:p>
            <a:pPr marL="171450" indent="-171450">
              <a:lnSpc>
                <a:spcPct val="150000"/>
              </a:lnSpc>
              <a:buFont typeface="Wingdings" panose="05000000000000000000" pitchFamily="2" charset="2"/>
              <a:buChar char="u"/>
            </a:pPr>
            <a:r>
              <a:rPr lang="ja-JP" altLang="en-US" sz="1100" dirty="0">
                <a:latin typeface="Meiryo UI" panose="020B0604030504040204" pitchFamily="50" charset="-128"/>
                <a:ea typeface="Meiryo UI" panose="020B0604030504040204" pitchFamily="50" charset="-128"/>
              </a:rPr>
              <a:t>経済産業省の「未来人材ビジョン（</a:t>
            </a:r>
            <a:r>
              <a:rPr lang="en-US" altLang="ja-JP" sz="1100" dirty="0">
                <a:latin typeface="Meiryo UI" panose="020B0604030504040204" pitchFamily="50" charset="-128"/>
                <a:ea typeface="Meiryo UI" panose="020B0604030504040204" pitchFamily="50" charset="-128"/>
              </a:rPr>
              <a:t>2023</a:t>
            </a:r>
            <a:r>
              <a:rPr lang="ja-JP" altLang="en-US" sz="1100" dirty="0">
                <a:latin typeface="Meiryo UI" panose="020B0604030504040204" pitchFamily="50" charset="-128"/>
                <a:ea typeface="Meiryo UI" panose="020B0604030504040204" pitchFamily="50" charset="-128"/>
              </a:rPr>
              <a:t>）」では、環境変化に対応できる「ポータブルスキル」の習得が日本の労働生産へ向上のカギである、と指摘されています（次頁詳細）</a:t>
            </a:r>
            <a:endParaRPr lang="en-US" altLang="ja-JP" sz="1100" dirty="0">
              <a:latin typeface="Meiryo UI" panose="020B0604030504040204" pitchFamily="50" charset="-128"/>
              <a:ea typeface="Meiryo UI" panose="020B0604030504040204" pitchFamily="50" charset="-128"/>
            </a:endParaRPr>
          </a:p>
          <a:p>
            <a:pPr marL="171450" indent="-171450">
              <a:lnSpc>
                <a:spcPct val="150000"/>
              </a:lnSpc>
              <a:buFont typeface="Wingdings" panose="05000000000000000000" pitchFamily="2" charset="2"/>
              <a:buChar char="u"/>
            </a:pPr>
            <a:r>
              <a:rPr lang="en-US" altLang="ja-JP" sz="1100" dirty="0">
                <a:latin typeface="Meiryo UI" panose="020B0604030504040204" pitchFamily="50" charset="-128"/>
                <a:ea typeface="Meiryo UI" panose="020B0604030504040204" pitchFamily="50" charset="-128"/>
              </a:rPr>
              <a:t>Google</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AMAZON</a:t>
            </a:r>
            <a:r>
              <a:rPr lang="ja-JP" altLang="en-US" sz="1100" dirty="0">
                <a:latin typeface="Meiryo UI" panose="020B0604030504040204" pitchFamily="50" charset="-128"/>
                <a:ea typeface="Meiryo UI" panose="020B0604030504040204" pitchFamily="50" charset="-128"/>
              </a:rPr>
              <a:t>、</a:t>
            </a:r>
            <a:r>
              <a:rPr lang="en-US" altLang="ja-JP" sz="1100" dirty="0">
                <a:latin typeface="Meiryo UI" panose="020B0604030504040204" pitchFamily="50" charset="-128"/>
                <a:ea typeface="Meiryo UI" panose="020B0604030504040204" pitchFamily="50" charset="-128"/>
              </a:rPr>
              <a:t>Microsoft</a:t>
            </a:r>
            <a:r>
              <a:rPr lang="ja-JP" altLang="en-US" sz="1100" dirty="0">
                <a:latin typeface="Meiryo UI" panose="020B0604030504040204" pitchFamily="50" charset="-128"/>
                <a:ea typeface="Meiryo UI" panose="020B0604030504040204" pitchFamily="50" charset="-128"/>
              </a:rPr>
              <a:t>などのトップ企業は、採用基準を「専門知識」から「ポータブルスキル」重視に移行しています。</a:t>
            </a:r>
            <a:endParaRPr lang="en-US" altLang="ja-JP" sz="1100" dirty="0">
              <a:latin typeface="Meiryo UI" panose="020B0604030504040204" pitchFamily="50" charset="-128"/>
              <a:ea typeface="Meiryo UI" panose="020B0604030504040204" pitchFamily="50" charset="-128"/>
            </a:endParaRPr>
          </a:p>
          <a:p>
            <a:pPr marL="263525" lvl="1" indent="-173038">
              <a:lnSpc>
                <a:spcPct val="150000"/>
              </a:lnSpc>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技術や業界の変化が激しく、特定の知識やスキルがすぐに陳腐化するため、変化に適応できる能力や問題解決力、学習能力、リーダーシップなど、どこでも通用する普遍的なスキルが重要視されている</a:t>
            </a:r>
            <a:endParaRPr lang="en-US" altLang="ja-JP" sz="1100" dirty="0">
              <a:latin typeface="Meiryo UI" panose="020B0604030504040204" pitchFamily="50" charset="-128"/>
              <a:ea typeface="Meiryo UI" panose="020B0604030504040204" pitchFamily="50" charset="-128"/>
            </a:endParaRPr>
          </a:p>
          <a:p>
            <a:pPr marL="263525" lvl="1" indent="-173038">
              <a:lnSpc>
                <a:spcPct val="150000"/>
              </a:lnSpc>
              <a:buFont typeface="Arial" panose="020B0604020202020204" pitchFamily="34" charset="0"/>
              <a:buChar char="•"/>
            </a:pPr>
            <a:r>
              <a:rPr lang="ja-JP" altLang="en-US" sz="1100" dirty="0">
                <a:latin typeface="Meiryo UI" panose="020B0604030504040204" pitchFamily="50" charset="-128"/>
                <a:ea typeface="Meiryo UI" panose="020B0604030504040204" pitchFamily="50" charset="-128"/>
              </a:rPr>
              <a:t>実際に</a:t>
            </a:r>
            <a:r>
              <a:rPr lang="en-US" altLang="ja-JP" sz="1100" dirty="0">
                <a:latin typeface="Meiryo UI" panose="020B0604030504040204" pitchFamily="50" charset="-128"/>
                <a:ea typeface="Meiryo UI" panose="020B0604030504040204" pitchFamily="50" charset="-128"/>
              </a:rPr>
              <a:t>GAFAM</a:t>
            </a:r>
            <a:r>
              <a:rPr lang="ja-JP" altLang="en-US" sz="1100" dirty="0">
                <a:latin typeface="Meiryo UI" panose="020B0604030504040204" pitchFamily="50" charset="-128"/>
                <a:ea typeface="Meiryo UI" panose="020B0604030504040204" pitchFamily="50" charset="-128"/>
              </a:rPr>
              <a:t>の採用基準や現役社員へのインタビューでも、ハードスキルよりもソフトスキルを重視する方向性が明確になっており、「学習能力」「リーダーシップ」「コミュニケーション力」「問題解決力」などが求められています</a:t>
            </a:r>
            <a:endParaRPr lang="en-US" altLang="ja-JP" sz="1100"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335496505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DD2174-BFD8-7523-F886-03E144519791}"/>
            </a:ext>
          </a:extLst>
        </p:cNvPr>
        <p:cNvGrpSpPr/>
        <p:nvPr/>
      </p:nvGrpSpPr>
      <p:grpSpPr>
        <a:xfrm>
          <a:off x="0" y="0"/>
          <a:ext cx="0" cy="0"/>
          <a:chOff x="0" y="0"/>
          <a:chExt cx="0" cy="0"/>
        </a:xfrm>
      </p:grpSpPr>
      <p:sp>
        <p:nvSpPr>
          <p:cNvPr id="2" name="タイトル 6">
            <a:extLst>
              <a:ext uri="{FF2B5EF4-FFF2-40B4-BE49-F238E27FC236}">
                <a16:creationId xmlns:a16="http://schemas.microsoft.com/office/drawing/2014/main" id="{F6C959BF-18F8-0D26-182F-A10205ECEDED}"/>
              </a:ext>
            </a:extLst>
          </p:cNvPr>
          <p:cNvSpPr txBox="1">
            <a:spLocks/>
          </p:cNvSpPr>
          <p:nvPr/>
        </p:nvSpPr>
        <p:spPr>
          <a:xfrm>
            <a:off x="84030" y="139589"/>
            <a:ext cx="11221427" cy="528855"/>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400" b="1" dirty="0">
                <a:latin typeface="Meiryo UI" panose="020B0604030504040204" pitchFamily="50" charset="-128"/>
                <a:ea typeface="Meiryo UI" panose="020B0604030504040204" pitchFamily="50" charset="-128"/>
                <a:cs typeface="+mn-cs"/>
              </a:rPr>
              <a:t>経済産業省の「未来人材ビジョン（</a:t>
            </a:r>
            <a:r>
              <a:rPr lang="en-US" altLang="ja-JP" sz="2400" b="1" dirty="0">
                <a:latin typeface="Meiryo UI" panose="020B0604030504040204" pitchFamily="50" charset="-128"/>
                <a:ea typeface="Meiryo UI" panose="020B0604030504040204" pitchFamily="50" charset="-128"/>
                <a:cs typeface="+mn-cs"/>
              </a:rPr>
              <a:t>2023</a:t>
            </a:r>
            <a:r>
              <a:rPr lang="ja-JP" altLang="en-US" sz="2400" b="1" dirty="0">
                <a:latin typeface="Meiryo UI" panose="020B0604030504040204" pitchFamily="50" charset="-128"/>
                <a:ea typeface="Meiryo UI" panose="020B0604030504040204" pitchFamily="50" charset="-128"/>
                <a:cs typeface="+mn-cs"/>
              </a:rPr>
              <a:t>）」におけるポータブルスキル位置づけ</a:t>
            </a:r>
            <a:endParaRPr lang="ja-JP" altLang="en-US" dirty="0"/>
          </a:p>
        </p:txBody>
      </p:sp>
      <p:sp>
        <p:nvSpPr>
          <p:cNvPr id="4" name="四角形: 角を丸くする 3">
            <a:extLst>
              <a:ext uri="{FF2B5EF4-FFF2-40B4-BE49-F238E27FC236}">
                <a16:creationId xmlns:a16="http://schemas.microsoft.com/office/drawing/2014/main" id="{EFBEAA0C-1D69-377D-FF25-B720AD0B5B80}"/>
              </a:ext>
            </a:extLst>
          </p:cNvPr>
          <p:cNvSpPr/>
          <p:nvPr/>
        </p:nvSpPr>
        <p:spPr>
          <a:xfrm>
            <a:off x="284480" y="715252"/>
            <a:ext cx="11734800" cy="587225"/>
          </a:xfrm>
          <a:prstGeom prst="roundRect">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i="1" dirty="0">
                <a:solidFill>
                  <a:schemeClr val="tx1"/>
                </a:solidFill>
                <a:latin typeface="Meiryo UI" panose="020B0604030504040204" pitchFamily="50" charset="-128"/>
                <a:ea typeface="Meiryo UI" panose="020B0604030504040204" pitchFamily="50" charset="-128"/>
              </a:rPr>
              <a:t>経済産業省「未来人材ビジョン」では、環境変化に対応できるポータブルスキルの習得が、</a:t>
            </a:r>
            <a:endParaRPr kumimoji="1" lang="en-US" altLang="ja-JP" sz="1400" b="1" i="1" dirty="0">
              <a:solidFill>
                <a:schemeClr val="tx1"/>
              </a:solidFill>
              <a:latin typeface="Meiryo UI" panose="020B0604030504040204" pitchFamily="50" charset="-128"/>
              <a:ea typeface="Meiryo UI" panose="020B0604030504040204" pitchFamily="50" charset="-128"/>
            </a:endParaRPr>
          </a:p>
          <a:p>
            <a:pPr algn="ctr"/>
            <a:r>
              <a:rPr kumimoji="1" lang="ja-JP" altLang="en-US" sz="1400" b="1" i="1" dirty="0">
                <a:solidFill>
                  <a:schemeClr val="tx1"/>
                </a:solidFill>
                <a:latin typeface="Meiryo UI" panose="020B0604030504040204" pitchFamily="50" charset="-128"/>
                <a:ea typeface="Meiryo UI" panose="020B0604030504040204" pitchFamily="50" charset="-128"/>
              </a:rPr>
              <a:t>日本の労働生産性向上のカギであると明確に指摘されています</a:t>
            </a:r>
          </a:p>
        </p:txBody>
      </p:sp>
      <p:sp>
        <p:nvSpPr>
          <p:cNvPr id="6" name="テキスト ボックス 5">
            <a:extLst>
              <a:ext uri="{FF2B5EF4-FFF2-40B4-BE49-F238E27FC236}">
                <a16:creationId xmlns:a16="http://schemas.microsoft.com/office/drawing/2014/main" id="{D1501051-E426-AF87-2050-647AF49C9B8A}"/>
              </a:ext>
            </a:extLst>
          </p:cNvPr>
          <p:cNvSpPr txBox="1"/>
          <p:nvPr/>
        </p:nvSpPr>
        <p:spPr>
          <a:xfrm>
            <a:off x="231140" y="1472149"/>
            <a:ext cx="11849100" cy="3925177"/>
          </a:xfrm>
          <a:prstGeom prst="rect">
            <a:avLst/>
          </a:prstGeom>
          <a:solidFill>
            <a:schemeClr val="bg1">
              <a:lumMod val="95000"/>
            </a:schemeClr>
          </a:solidFill>
        </p:spPr>
        <p:txBody>
          <a:bodyPr wrap="square">
            <a:spAutoFit/>
          </a:bodyPr>
          <a:lstStyle/>
          <a:p>
            <a:pPr>
              <a:lnSpc>
                <a:spcPct val="150000"/>
              </a:lnSpc>
            </a:pPr>
            <a:r>
              <a:rPr lang="en-US" altLang="ja-JP" sz="1400" b="1" dirty="0">
                <a:latin typeface="Meiryo UI" panose="020B0604030504040204" pitchFamily="50" charset="-128"/>
                <a:ea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rPr>
              <a:t>経済産業省「未来人材ビジョン」におけるポータブルスキルの位置づけ</a:t>
            </a:r>
            <a:r>
              <a:rPr lang="en-US" altLang="ja-JP" sz="1400" b="1" dirty="0">
                <a:latin typeface="Meiryo UI" panose="020B0604030504040204" pitchFamily="50" charset="-128"/>
                <a:ea typeface="Meiryo UI" panose="020B0604030504040204" pitchFamily="50" charset="-128"/>
              </a:rPr>
              <a:t>】</a:t>
            </a:r>
            <a:endParaRPr lang="ja-JP" altLang="en-US" sz="1400" b="1" dirty="0">
              <a:latin typeface="Meiryo UI" panose="020B0604030504040204" pitchFamily="50" charset="-128"/>
              <a:ea typeface="Meiryo UI" panose="020B0604030504040204" pitchFamily="50" charset="-128"/>
            </a:endParaRPr>
          </a:p>
          <a:p>
            <a:pPr marL="285750" indent="-285750">
              <a:lnSpc>
                <a:spcPct val="150000"/>
              </a:lnSpc>
              <a:buFont typeface="Wingdings" panose="05000000000000000000" pitchFamily="2" charset="2"/>
              <a:buChar char="Ø"/>
            </a:pPr>
            <a:r>
              <a:rPr lang="ja-JP" altLang="en-US" sz="1400" dirty="0">
                <a:latin typeface="Meiryo UI" panose="020B0604030504040204" pitchFamily="50" charset="-128"/>
                <a:ea typeface="Meiryo UI" panose="020B0604030504040204" pitchFamily="50" charset="-128"/>
              </a:rPr>
              <a:t>経済産業省が策定した「未来人材ビジョン」では、</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「これからの時代に必要となる能力やスキルは、基礎能力や高度な専門知識だけではない」と明記し、環境変化に強いスキル――すなわちポータブルスキル</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（汎用的スキル）の重要性を強調しています。</a:t>
            </a:r>
          </a:p>
          <a:p>
            <a:pPr marL="285750" indent="-285750">
              <a:lnSpc>
                <a:spcPct val="150000"/>
              </a:lnSpc>
              <a:buFont typeface="Wingdings" panose="05000000000000000000" pitchFamily="2" charset="2"/>
              <a:buChar char="Ø"/>
            </a:pPr>
            <a:r>
              <a:rPr lang="ja-JP" altLang="en-US" sz="1400" dirty="0">
                <a:latin typeface="Meiryo UI" panose="020B0604030504040204" pitchFamily="50" charset="-128"/>
                <a:ea typeface="Meiryo UI" panose="020B0604030504040204" pitchFamily="50" charset="-128"/>
              </a:rPr>
              <a:t>具体的には、「問題発見力」「的確な予測」「革新性」「柔軟性」「コミュニケーション力」など、業種や職種を問わず発揮できる能力が、</a:t>
            </a:r>
            <a:br>
              <a:rPr lang="en-US" altLang="ja-JP" sz="1400" dirty="0">
                <a:latin typeface="Meiryo UI" panose="020B0604030504040204" pitchFamily="50" charset="-128"/>
                <a:ea typeface="Meiryo UI" panose="020B0604030504040204" pitchFamily="50" charset="-128"/>
              </a:rPr>
            </a:br>
            <a:r>
              <a:rPr lang="ja-JP" altLang="en-US" sz="1400" dirty="0">
                <a:latin typeface="Meiryo UI" panose="020B0604030504040204" pitchFamily="50" charset="-128"/>
                <a:ea typeface="Meiryo UI" panose="020B0604030504040204" pitchFamily="50" charset="-128"/>
              </a:rPr>
              <a:t>2050年においても上位の重要スキルであると整理されています。</a:t>
            </a:r>
          </a:p>
          <a:p>
            <a:pPr marL="285750" indent="-285750">
              <a:lnSpc>
                <a:spcPct val="150000"/>
              </a:lnSpc>
              <a:buFont typeface="Wingdings" panose="05000000000000000000" pitchFamily="2" charset="2"/>
              <a:buChar char="Ø"/>
            </a:pPr>
            <a:r>
              <a:rPr lang="ja-JP" altLang="en-US" sz="1400" dirty="0">
                <a:latin typeface="Meiryo UI" panose="020B0604030504040204" pitchFamily="50" charset="-128"/>
                <a:ea typeface="Meiryo UI" panose="020B0604030504040204" pitchFamily="50" charset="-128"/>
              </a:rPr>
              <a:t>また、「デジタルスキルの活用による生産性向上と競争力強化」と並んで、ポータブルスキルの習得が産業の持続的発展のカギであると明記されています。</a:t>
            </a:r>
            <a:endParaRPr lang="en-US" altLang="ja-JP" sz="1400" dirty="0">
              <a:latin typeface="Meiryo UI" panose="020B0604030504040204" pitchFamily="50" charset="-128"/>
              <a:ea typeface="Meiryo UI" panose="020B0604030504040204" pitchFamily="50" charset="-128"/>
            </a:endParaRPr>
          </a:p>
          <a:p>
            <a:pPr marL="285750" indent="-285750">
              <a:lnSpc>
                <a:spcPct val="150000"/>
              </a:lnSpc>
              <a:buFont typeface="Wingdings" panose="05000000000000000000" pitchFamily="2" charset="2"/>
              <a:buChar char="Ø"/>
            </a:pPr>
            <a:endParaRPr lang="ja-JP" altLang="en-US" sz="1400" b="1" dirty="0">
              <a:latin typeface="Meiryo UI" panose="020B0604030504040204" pitchFamily="50" charset="-128"/>
              <a:ea typeface="Meiryo UI" panose="020B0604030504040204" pitchFamily="50" charset="-128"/>
            </a:endParaRPr>
          </a:p>
          <a:p>
            <a:pPr>
              <a:lnSpc>
                <a:spcPct val="150000"/>
              </a:lnSpc>
            </a:pPr>
            <a:r>
              <a:rPr lang="en-US" altLang="ja-JP" sz="1400" b="1" dirty="0">
                <a:latin typeface="Meiryo UI" panose="020B0604030504040204" pitchFamily="50" charset="-128"/>
                <a:ea typeface="Meiryo UI" panose="020B0604030504040204" pitchFamily="50" charset="-128"/>
              </a:rPr>
              <a:t>【</a:t>
            </a:r>
            <a:r>
              <a:rPr lang="ja-JP" altLang="en-US" sz="1400" b="1" dirty="0">
                <a:latin typeface="Meiryo UI" panose="020B0604030504040204" pitchFamily="50" charset="-128"/>
                <a:ea typeface="Meiryo UI" panose="020B0604030504040204" pitchFamily="50" charset="-128"/>
              </a:rPr>
              <a:t>労働生産性向上との関係</a:t>
            </a:r>
            <a:r>
              <a:rPr lang="en-US" altLang="ja-JP" sz="1400" b="1" dirty="0">
                <a:latin typeface="Meiryo UI" panose="020B0604030504040204" pitchFamily="50" charset="-128"/>
                <a:ea typeface="Meiryo UI" panose="020B0604030504040204" pitchFamily="50" charset="-128"/>
              </a:rPr>
              <a:t>】</a:t>
            </a:r>
            <a:endParaRPr lang="ja-JP" altLang="en-US" sz="1400" b="1" dirty="0">
              <a:latin typeface="Meiryo UI" panose="020B0604030504040204" pitchFamily="50" charset="-128"/>
              <a:ea typeface="Meiryo UI" panose="020B0604030504040204" pitchFamily="50" charset="-128"/>
            </a:endParaRPr>
          </a:p>
          <a:p>
            <a:pPr marL="285750" indent="-285750">
              <a:lnSpc>
                <a:spcPct val="150000"/>
              </a:lnSpc>
              <a:buFont typeface="Wingdings" panose="05000000000000000000" pitchFamily="2" charset="2"/>
              <a:buChar char="Ø"/>
            </a:pPr>
            <a:r>
              <a:rPr lang="ja-JP" altLang="en-US" sz="1400" dirty="0">
                <a:latin typeface="Meiryo UI" panose="020B0604030504040204" pitchFamily="50" charset="-128"/>
                <a:ea typeface="Meiryo UI" panose="020B0604030504040204" pitchFamily="50" charset="-128"/>
              </a:rPr>
              <a:t>「未来人材ビジョン」は、日本の労働生産性向上や競争力強化のためには、ポータブルスキルの習得・活用が不可欠であると繰り返し指摘しています。</a:t>
            </a:r>
          </a:p>
          <a:p>
            <a:pPr marL="285750" indent="-285750">
              <a:lnSpc>
                <a:spcPct val="150000"/>
              </a:lnSpc>
              <a:buFont typeface="Wingdings" panose="05000000000000000000" pitchFamily="2" charset="2"/>
              <a:buChar char="Ø"/>
            </a:pPr>
            <a:r>
              <a:rPr lang="ja-JP" altLang="en-US" sz="1400" dirty="0">
                <a:latin typeface="Meiryo UI" panose="020B0604030504040204" pitchFamily="50" charset="-128"/>
                <a:ea typeface="Meiryo UI" panose="020B0604030504040204" pitchFamily="50" charset="-128"/>
              </a:rPr>
              <a:t>具体的な記述例として、「あらゆる産業・職種がデジタル技術の影響のもとに抜本的な変革を求められる中、ポータブルスキルを習得することが有効」とされており、環境変化への適応力＝生産性向上のカギという論理が明確に示されています。</a:t>
            </a:r>
          </a:p>
        </p:txBody>
      </p:sp>
      <p:sp>
        <p:nvSpPr>
          <p:cNvPr id="9" name="テキスト ボックス 8">
            <a:extLst>
              <a:ext uri="{FF2B5EF4-FFF2-40B4-BE49-F238E27FC236}">
                <a16:creationId xmlns:a16="http://schemas.microsoft.com/office/drawing/2014/main" id="{40FF47A3-6405-CD69-CC3B-FC1F209364AF}"/>
              </a:ext>
            </a:extLst>
          </p:cNvPr>
          <p:cNvSpPr txBox="1"/>
          <p:nvPr/>
        </p:nvSpPr>
        <p:spPr>
          <a:xfrm>
            <a:off x="231140" y="5856637"/>
            <a:ext cx="5347857" cy="861774"/>
          </a:xfrm>
          <a:prstGeom prst="rect">
            <a:avLst/>
          </a:prstGeom>
          <a:noFill/>
        </p:spPr>
        <p:txBody>
          <a:bodyPr wrap="square">
            <a:spAutoFit/>
          </a:bodyPr>
          <a:lstStyle/>
          <a:p>
            <a:r>
              <a:rPr lang="ja-JP" altLang="en-US" sz="1000" dirty="0">
                <a:latin typeface="Meiryo UI" panose="020B0604030504040204" pitchFamily="50" charset="-128"/>
                <a:ea typeface="Meiryo UI" panose="020B0604030504040204" pitchFamily="50" charset="-128"/>
                <a:hlinkClick r:id="rId2"/>
              </a:rPr>
              <a:t>https://www.mhlw.go.jp/content/11600000/001244078.pdf</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hlinkClick r:id="rId3"/>
              </a:rPr>
              <a:t>https://research.lightworks.co.jp/portable-skills</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hlinkClick r:id="rId4"/>
              </a:rPr>
              <a:t>https://www.pref.ibaraki.jp/soshiki/shokorodo/sanjin/documents/siryo2.pdf</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hlinkClick r:id="rId5"/>
              </a:rPr>
              <a:t>https://career-research.mynavi.jp/column/20241107_88105</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hlinkClick r:id="rId6"/>
              </a:rPr>
              <a:t>https://www.meti.go.jp/press/2022/05/20220531001/20220531001-1.pdf</a:t>
            </a:r>
            <a:endParaRPr lang="en-US" altLang="ja-JP" sz="1000" dirty="0">
              <a:latin typeface="Meiryo UI" panose="020B0604030504040204" pitchFamily="50" charset="-128"/>
              <a:ea typeface="Meiryo UI" panose="020B0604030504040204" pitchFamily="50" charset="-128"/>
            </a:endParaRPr>
          </a:p>
        </p:txBody>
      </p:sp>
      <p:sp>
        <p:nvSpPr>
          <p:cNvPr id="10" name="テキスト ボックス 9">
            <a:extLst>
              <a:ext uri="{FF2B5EF4-FFF2-40B4-BE49-F238E27FC236}">
                <a16:creationId xmlns:a16="http://schemas.microsoft.com/office/drawing/2014/main" id="{9E1801FF-DF64-CD76-06F0-94657ACABFAE}"/>
              </a:ext>
            </a:extLst>
          </p:cNvPr>
          <p:cNvSpPr txBox="1"/>
          <p:nvPr/>
        </p:nvSpPr>
        <p:spPr>
          <a:xfrm>
            <a:off x="6460249" y="5856637"/>
            <a:ext cx="5347857" cy="861774"/>
          </a:xfrm>
          <a:prstGeom prst="rect">
            <a:avLst/>
          </a:prstGeom>
          <a:noFill/>
        </p:spPr>
        <p:txBody>
          <a:bodyPr wrap="square">
            <a:spAutoFit/>
          </a:bodyPr>
          <a:lstStyle/>
          <a:p>
            <a:r>
              <a:rPr lang="ja-JP" altLang="en-US" sz="1000" dirty="0">
                <a:latin typeface="Meiryo UI" panose="020B0604030504040204" pitchFamily="50" charset="-128"/>
                <a:ea typeface="Meiryo UI" panose="020B0604030504040204" pitchFamily="50" charset="-128"/>
                <a:hlinkClick r:id="rId7"/>
              </a:rPr>
              <a:t>https://www.meti.go.jp/policy/economy/jinteki_shihon/pdf/report2.0_cases.pdf</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hlinkClick r:id="rId8"/>
              </a:rPr>
              <a:t>https://www.meti.go.jp/press/2022/05/20220531001/20220531001.htm</a:t>
            </a:r>
            <a:r>
              <a:rPr lang="en-US" altLang="ja-JP" sz="1000" dirty="0">
                <a:latin typeface="Meiryo UI" panose="020B0604030504040204" pitchFamily="50" charset="-128"/>
                <a:ea typeface="Meiryo UI" panose="020B0604030504040204" pitchFamily="50" charset="-128"/>
                <a:hlinkClick r:id="rId8"/>
              </a:rPr>
              <a:t>l</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hlinkClick r:id="rId9"/>
              </a:rPr>
              <a:t>https://www.cas.go.jp/jp/seisaku/kyouikumirai/dai3/siryou4.pdf</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hlinkClick r:id="rId10"/>
              </a:rPr>
              <a:t>https://www.works-i.com/works/item/w_180.pdf</a:t>
            </a:r>
            <a:endParaRPr lang="en-US" altLang="ja-JP" sz="1000" dirty="0">
              <a:latin typeface="Meiryo UI" panose="020B0604030504040204" pitchFamily="50" charset="-128"/>
              <a:ea typeface="Meiryo UI" panose="020B0604030504040204" pitchFamily="50" charset="-128"/>
            </a:endParaRPr>
          </a:p>
          <a:p>
            <a:r>
              <a:rPr lang="ja-JP" altLang="en-US" sz="1000" dirty="0">
                <a:latin typeface="Meiryo UI" panose="020B0604030504040204" pitchFamily="50" charset="-128"/>
                <a:ea typeface="Meiryo UI" panose="020B0604030504040204" pitchFamily="50" charset="-128"/>
              </a:rPr>
              <a:t>https://www.chisou.go.jp/tiiki/tiikisaisei/portal/pdf/dai37/A-11_ibarakiken.pdf</a:t>
            </a:r>
            <a:endParaRPr lang="en-US" altLang="ja-JP" sz="1000" dirty="0">
              <a:latin typeface="Meiryo UI" panose="020B0604030504040204" pitchFamily="50" charset="-128"/>
              <a:ea typeface="Meiryo UI" panose="020B0604030504040204" pitchFamily="50" charset="-128"/>
            </a:endParaRPr>
          </a:p>
        </p:txBody>
      </p:sp>
      <p:sp>
        <p:nvSpPr>
          <p:cNvPr id="11" name="タイトル 1">
            <a:extLst>
              <a:ext uri="{FF2B5EF4-FFF2-40B4-BE49-F238E27FC236}">
                <a16:creationId xmlns:a16="http://schemas.microsoft.com/office/drawing/2014/main" id="{4D46D97E-90D4-8F96-A112-D28F950ECA62}"/>
              </a:ext>
            </a:extLst>
          </p:cNvPr>
          <p:cNvSpPr txBox="1">
            <a:spLocks/>
          </p:cNvSpPr>
          <p:nvPr/>
        </p:nvSpPr>
        <p:spPr>
          <a:xfrm>
            <a:off x="280129" y="5545846"/>
            <a:ext cx="8115214" cy="310791"/>
          </a:xfrm>
          <a:prstGeom prst="rect">
            <a:avLst/>
          </a:prstGeom>
        </p:spPr>
        <p:txBody>
          <a:bodyPr vert="horz" lIns="91440" tIns="45720" rIns="91440" bIns="45720" rtlCol="0" anchor="b">
            <a:spAutoFit/>
          </a:bodyPr>
          <a:lstStyle>
            <a:lvl1pPr algn="l" defTabSz="914400" rtl="0" eaLnBrk="1" latinLnBrk="0" hangingPunct="1">
              <a:lnSpc>
                <a:spcPct val="90000"/>
              </a:lnSpc>
              <a:spcBef>
                <a:spcPct val="0"/>
              </a:spcBef>
              <a:buNone/>
              <a:defRPr kumimoji="1" sz="2400" b="1" kern="1200">
                <a:solidFill>
                  <a:schemeClr val="tx1">
                    <a:lumMod val="75000"/>
                    <a:lumOff val="25000"/>
                  </a:schemeClr>
                </a:solidFill>
                <a:latin typeface="Meiryo UI" panose="020B0604030504040204" pitchFamily="34" charset="-128"/>
                <a:ea typeface="Meiryo UI" panose="020B0604030504040204" pitchFamily="34" charset="-128"/>
                <a:cs typeface="+mj-cs"/>
              </a:defRPr>
            </a:lvl1pPr>
          </a:lstStyle>
          <a:p>
            <a:pPr>
              <a:lnSpc>
                <a:spcPct val="150000"/>
              </a:lnSpc>
            </a:pPr>
            <a:r>
              <a:rPr lang="ja-JP" altLang="en-US" sz="1050" b="0" dirty="0">
                <a:latin typeface="Meiryo UI" panose="020B0604030504040204" pitchFamily="50" charset="-128"/>
                <a:ea typeface="Meiryo UI" panose="020B0604030504040204" pitchFamily="50" charset="-128"/>
              </a:rPr>
              <a:t>参考文献</a:t>
            </a:r>
          </a:p>
        </p:txBody>
      </p:sp>
    </p:spTree>
    <p:extLst>
      <p:ext uri="{BB962C8B-B14F-4D97-AF65-F5344CB8AC3E}">
        <p14:creationId xmlns:p14="http://schemas.microsoft.com/office/powerpoint/2010/main" val="21877634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F20B90-4846-E005-67EF-5F35A942583A}"/>
            </a:ext>
          </a:extLst>
        </p:cNvPr>
        <p:cNvGrpSpPr/>
        <p:nvPr/>
      </p:nvGrpSpPr>
      <p:grpSpPr>
        <a:xfrm>
          <a:off x="0" y="0"/>
          <a:ext cx="0" cy="0"/>
          <a:chOff x="0" y="0"/>
          <a:chExt cx="0" cy="0"/>
        </a:xfrm>
      </p:grpSpPr>
      <p:sp>
        <p:nvSpPr>
          <p:cNvPr id="2" name="タイトル 6">
            <a:extLst>
              <a:ext uri="{FF2B5EF4-FFF2-40B4-BE49-F238E27FC236}">
                <a16:creationId xmlns:a16="http://schemas.microsoft.com/office/drawing/2014/main" id="{7271A399-69E5-F971-5E8A-98CE898E485C}"/>
              </a:ext>
            </a:extLst>
          </p:cNvPr>
          <p:cNvSpPr txBox="1">
            <a:spLocks/>
          </p:cNvSpPr>
          <p:nvPr/>
        </p:nvSpPr>
        <p:spPr>
          <a:xfrm>
            <a:off x="84030" y="139589"/>
            <a:ext cx="11221427" cy="528855"/>
          </a:xfrm>
          <a:prstGeom prst="rect">
            <a:avLst/>
          </a:prstGeom>
        </p:spPr>
        <p:txBody>
          <a:bodyPr>
            <a:normAutofit fontScale="85000" lnSpcReduction="20000"/>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endParaRPr lang="ja-JP" altLang="en-US" dirty="0"/>
          </a:p>
        </p:txBody>
      </p:sp>
      <p:sp>
        <p:nvSpPr>
          <p:cNvPr id="7" name="タイトル 1">
            <a:extLst>
              <a:ext uri="{FF2B5EF4-FFF2-40B4-BE49-F238E27FC236}">
                <a16:creationId xmlns:a16="http://schemas.microsoft.com/office/drawing/2014/main" id="{06F8FC0B-543B-3F07-192C-7460B637F231}"/>
              </a:ext>
            </a:extLst>
          </p:cNvPr>
          <p:cNvSpPr txBox="1">
            <a:spLocks/>
          </p:cNvSpPr>
          <p:nvPr/>
        </p:nvSpPr>
        <p:spPr>
          <a:xfrm>
            <a:off x="287230" y="1352287"/>
            <a:ext cx="11727866" cy="5502597"/>
          </a:xfrm>
          <a:prstGeom prst="rect">
            <a:avLst/>
          </a:prstGeom>
          <a:solidFill>
            <a:schemeClr val="bg1">
              <a:lumMod val="95000"/>
            </a:schemeClr>
          </a:solidFill>
        </p:spPr>
        <p:txBody>
          <a:bodyPr vert="horz" wrap="square" lIns="91440" tIns="45720" rIns="91440" bIns="45720" rtlCol="0" anchor="t">
            <a:spAutoFit/>
          </a:bodyPr>
          <a:lstStyle>
            <a:lvl1pPr algn="l" defTabSz="914400" rtl="0" eaLnBrk="1" latinLnBrk="0" hangingPunct="1">
              <a:lnSpc>
                <a:spcPct val="90000"/>
              </a:lnSpc>
              <a:spcBef>
                <a:spcPct val="0"/>
              </a:spcBef>
              <a:buNone/>
              <a:defRPr kumimoji="1" sz="2400" b="1" kern="1200">
                <a:solidFill>
                  <a:schemeClr val="tx1">
                    <a:lumMod val="75000"/>
                    <a:lumOff val="25000"/>
                  </a:schemeClr>
                </a:solidFill>
                <a:latin typeface="Meiryo UI" panose="020B0604030504040204" pitchFamily="34" charset="-128"/>
                <a:ea typeface="Meiryo UI" panose="020B0604030504040204" pitchFamily="34" charset="-128"/>
                <a:cs typeface="+mj-cs"/>
              </a:defRPr>
            </a:lvl1pPr>
          </a:lstStyle>
          <a:p>
            <a:pPr>
              <a:lnSpc>
                <a:spcPct val="150000"/>
              </a:lnSpc>
            </a:pP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業績・生産性向上</a:t>
            </a:r>
            <a:r>
              <a:rPr lang="en-US" altLang="ja-JP" sz="1200" dirty="0">
                <a:latin typeface="Meiryo UI" panose="020B0604030504040204" pitchFamily="50" charset="-128"/>
                <a:ea typeface="Meiryo UI" panose="020B0604030504040204" pitchFamily="50" charset="-128"/>
              </a:rPr>
              <a:t>】</a:t>
            </a:r>
          </a:p>
          <a:p>
            <a:pPr marL="355600">
              <a:lnSpc>
                <a:spcPct val="150000"/>
              </a:lnSpc>
              <a:tabLst>
                <a:tab pos="355600" algn="l"/>
              </a:tabLst>
            </a:pPr>
            <a:r>
              <a:rPr lang="en-US" altLang="ja-JP" sz="1200" b="0" dirty="0">
                <a:latin typeface="Meiryo UI" panose="020B0604030504040204" pitchFamily="50" charset="-128"/>
                <a:ea typeface="Meiryo UI" panose="020B0604030504040204" pitchFamily="50" charset="-128"/>
              </a:rPr>
              <a:t>Deloitte</a:t>
            </a:r>
            <a:r>
              <a:rPr lang="ja-JP" altLang="en-US" sz="1200" b="0" dirty="0">
                <a:latin typeface="Meiryo UI" panose="020B0604030504040204" pitchFamily="50" charset="-128"/>
                <a:ea typeface="Meiryo UI" panose="020B0604030504040204" pitchFamily="50" charset="-128"/>
              </a:rPr>
              <a:t>や</a:t>
            </a:r>
            <a:r>
              <a:rPr lang="en-US" altLang="ja-JP" sz="1200" b="0" dirty="0">
                <a:latin typeface="Meiryo UI" panose="020B0604030504040204" pitchFamily="50" charset="-128"/>
                <a:ea typeface="Meiryo UI" panose="020B0604030504040204" pitchFamily="50" charset="-128"/>
              </a:rPr>
              <a:t>PwC</a:t>
            </a:r>
            <a:r>
              <a:rPr lang="ja-JP" altLang="en-US" sz="1200" b="0" dirty="0">
                <a:latin typeface="Meiryo UI" panose="020B0604030504040204" pitchFamily="50" charset="-128"/>
                <a:ea typeface="Meiryo UI" panose="020B0604030504040204" pitchFamily="50" charset="-128"/>
              </a:rPr>
              <a:t>の調査によると、スキルファースト文化を持つ企業は、そうでない企業に比べて</a:t>
            </a:r>
            <a:r>
              <a:rPr lang="en-US" altLang="ja-JP" sz="1200" b="0" dirty="0">
                <a:latin typeface="Meiryo UI" panose="020B0604030504040204" pitchFamily="50" charset="-128"/>
                <a:ea typeface="Meiryo UI" panose="020B0604030504040204" pitchFamily="50" charset="-128"/>
              </a:rPr>
              <a:t>63%</a:t>
            </a:r>
            <a:r>
              <a:rPr lang="ja-JP" altLang="en-US" sz="1200" b="0" dirty="0">
                <a:latin typeface="Meiryo UI" panose="020B0604030504040204" pitchFamily="50" charset="-128"/>
                <a:ea typeface="Meiryo UI" panose="020B0604030504040204" pitchFamily="50" charset="-128"/>
              </a:rPr>
              <a:t>高い確率で財務目標など主要業績を達成しています。また、</a:t>
            </a:r>
            <a:r>
              <a:rPr lang="en-US" altLang="ja-JP" sz="1200" b="0" dirty="0">
                <a:latin typeface="Meiryo UI" panose="020B0604030504040204" pitchFamily="50" charset="-128"/>
                <a:ea typeface="Meiryo UI" panose="020B0604030504040204" pitchFamily="50" charset="-128"/>
              </a:rPr>
              <a:t>49%</a:t>
            </a:r>
            <a:r>
              <a:rPr lang="ja-JP" altLang="en-US" sz="1200" b="0" dirty="0">
                <a:latin typeface="Meiryo UI" panose="020B0604030504040204" pitchFamily="50" charset="-128"/>
                <a:ea typeface="Meiryo UI" panose="020B0604030504040204" pitchFamily="50" charset="-128"/>
              </a:rPr>
              <a:t>の企業が業務プロセスの効率化に成功しています</a:t>
            </a:r>
            <a:endParaRPr lang="en-US" altLang="ja-JP" sz="1200" b="0" dirty="0">
              <a:latin typeface="Meiryo UI" panose="020B0604030504040204" pitchFamily="50" charset="-128"/>
              <a:ea typeface="Meiryo UI" panose="020B0604030504040204" pitchFamily="50" charset="-128"/>
            </a:endParaRPr>
          </a:p>
          <a:p>
            <a:pPr marL="720725">
              <a:lnSpc>
                <a:spcPct val="150000"/>
              </a:lnSpc>
              <a:tabLst>
                <a:tab pos="720725" algn="l"/>
              </a:tabLst>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https://themanufacturinginstitute.org/wp-content/uploads/2024/04/Digital_Skills_Report_April_2024.pdf</a:t>
            </a:r>
            <a:r>
              <a:rPr lang="en-US" altLang="ja-JP" sz="700" dirty="0"/>
              <a:t> </a:t>
            </a:r>
          </a:p>
          <a:p>
            <a:pPr marL="720725">
              <a:lnSpc>
                <a:spcPct val="150000"/>
              </a:lnSpc>
              <a:tabLst>
                <a:tab pos="720725" algn="l"/>
              </a:tabLst>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https://www.pwc.com/gx/en/issues/upskilling/first-skills-report/report/WEF_CNES_Putting_Skills_First.pdf</a:t>
            </a:r>
            <a:r>
              <a:rPr lang="en-US" altLang="ja-JP" sz="700" dirty="0"/>
              <a:t> </a:t>
            </a:r>
          </a:p>
          <a:p>
            <a:pPr>
              <a:lnSpc>
                <a:spcPct val="150000"/>
              </a:lnSpc>
            </a:pPr>
            <a:endParaRPr lang="en-US" altLang="ja-JP" sz="1050" dirty="0">
              <a:latin typeface="Meiryo UI" panose="020B0604030504040204" pitchFamily="50" charset="-128"/>
              <a:ea typeface="Meiryo UI" panose="020B0604030504040204" pitchFamily="50" charset="-128"/>
            </a:endParaRPr>
          </a:p>
          <a:p>
            <a:pPr>
              <a:lnSpc>
                <a:spcPct val="150000"/>
              </a:lnSpc>
            </a:pP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人材獲得・定着</a:t>
            </a:r>
            <a:r>
              <a:rPr lang="en-US" altLang="ja-JP" sz="1200" dirty="0">
                <a:latin typeface="Meiryo UI" panose="020B0604030504040204" pitchFamily="50" charset="-128"/>
                <a:ea typeface="Meiryo UI" panose="020B0604030504040204" pitchFamily="50" charset="-128"/>
              </a:rPr>
              <a:t>】</a:t>
            </a:r>
          </a:p>
          <a:p>
            <a:pPr marL="355600">
              <a:lnSpc>
                <a:spcPct val="150000"/>
              </a:lnSpc>
            </a:pPr>
            <a:r>
              <a:rPr lang="ja-JP" altLang="en-US" sz="1200" b="0" dirty="0">
                <a:latin typeface="Meiryo UI" panose="020B0604030504040204" pitchFamily="50" charset="-128"/>
                <a:ea typeface="Meiryo UI" panose="020B0604030504040204" pitchFamily="50" charset="-128"/>
              </a:rPr>
              <a:t>スキルベースアプローチを導入した企業では、</a:t>
            </a:r>
            <a:r>
              <a:rPr lang="en-US" altLang="ja-JP" sz="1200" b="0" dirty="0">
                <a:latin typeface="Meiryo UI" panose="020B0604030504040204" pitchFamily="50" charset="-128"/>
                <a:ea typeface="Meiryo UI" panose="020B0604030504040204" pitchFamily="50" charset="-128"/>
              </a:rPr>
              <a:t>98%</a:t>
            </a:r>
            <a:r>
              <a:rPr lang="ja-JP" altLang="en-US" sz="1200" b="0" dirty="0">
                <a:latin typeface="Meiryo UI" panose="020B0604030504040204" pitchFamily="50" charset="-128"/>
                <a:ea typeface="Meiryo UI" panose="020B0604030504040204" pitchFamily="50" charset="-128"/>
              </a:rPr>
              <a:t>がハイパフォーマーの維持に成功し、</a:t>
            </a:r>
            <a:r>
              <a:rPr lang="en-US" altLang="ja-JP" sz="1200" b="0" dirty="0">
                <a:latin typeface="Meiryo UI" panose="020B0604030504040204" pitchFamily="50" charset="-128"/>
                <a:ea typeface="Meiryo UI" panose="020B0604030504040204" pitchFamily="50" charset="-128"/>
              </a:rPr>
              <a:t>107%</a:t>
            </a:r>
            <a:r>
              <a:rPr lang="ja-JP" altLang="en-US" sz="1200" b="0" dirty="0">
                <a:latin typeface="Meiryo UI" panose="020B0604030504040204" pitchFamily="50" charset="-128"/>
                <a:ea typeface="Meiryo UI" panose="020B0604030504040204" pitchFamily="50" charset="-128"/>
              </a:rPr>
              <a:t>が人材配置の最適化に成功しています。また、</a:t>
            </a:r>
            <a:r>
              <a:rPr lang="en-US" altLang="ja-JP" sz="1200" b="0" dirty="0">
                <a:latin typeface="Meiryo UI" panose="020B0604030504040204" pitchFamily="50" charset="-128"/>
                <a:ea typeface="Meiryo UI" panose="020B0604030504040204" pitchFamily="50" charset="-128"/>
              </a:rPr>
              <a:t>79%</a:t>
            </a:r>
            <a:r>
              <a:rPr lang="ja-JP" altLang="en-US" sz="1200" b="0" dirty="0">
                <a:latin typeface="Meiryo UI" panose="020B0604030504040204" pitchFamily="50" charset="-128"/>
                <a:ea typeface="Meiryo UI" panose="020B0604030504040204" pitchFamily="50" charset="-128"/>
              </a:rPr>
              <a:t>の従業員がポジティブな職場体験を感じています</a:t>
            </a:r>
            <a:endParaRPr lang="en-US" altLang="ja-JP" sz="1200" b="0" dirty="0">
              <a:latin typeface="Meiryo UI" panose="020B0604030504040204" pitchFamily="50" charset="-128"/>
              <a:ea typeface="Meiryo UI" panose="020B0604030504040204" pitchFamily="50" charset="-128"/>
            </a:endParaRPr>
          </a:p>
          <a:p>
            <a:pPr marL="720725">
              <a:lnSpc>
                <a:spcPct val="150000"/>
              </a:lnSpc>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https://themanufacturinginstitute.org/wp-content/uploads/2024/04/Digital_Skills_Report_April_2024.pdf</a:t>
            </a:r>
            <a:r>
              <a:rPr lang="en-US" altLang="ja-JP" sz="700" dirty="0"/>
              <a:t> </a:t>
            </a:r>
            <a:endParaRPr lang="en-US" altLang="ja-JP" sz="900" dirty="0">
              <a:latin typeface="Meiryo UI" panose="020B0604030504040204" pitchFamily="50" charset="-128"/>
              <a:ea typeface="Meiryo UI" panose="020B0604030504040204" pitchFamily="50" charset="-128"/>
            </a:endParaRPr>
          </a:p>
          <a:p>
            <a:pPr marL="720725">
              <a:lnSpc>
                <a:spcPct val="150000"/>
              </a:lnSpc>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https://www2.deloitte.com/content/dam/insights/articles/glob175985_global-human-capital-trends-2023/GLOB175985_HUMAN-CAPITAL-TRENDS-2023.pdf</a:t>
            </a:r>
            <a:r>
              <a:rPr lang="en-US" altLang="ja-JP" sz="700" dirty="0"/>
              <a:t> </a:t>
            </a:r>
            <a:endParaRPr lang="en-US" altLang="ja-JP" sz="900" dirty="0">
              <a:latin typeface="Meiryo UI" panose="020B0604030504040204" pitchFamily="50" charset="-128"/>
              <a:ea typeface="Meiryo UI" panose="020B0604030504040204" pitchFamily="50" charset="-128"/>
            </a:endParaRPr>
          </a:p>
          <a:p>
            <a:pPr>
              <a:lnSpc>
                <a:spcPct val="150000"/>
              </a:lnSpc>
            </a:pPr>
            <a:endParaRPr lang="en-US" altLang="ja-JP" sz="900" dirty="0">
              <a:latin typeface="Meiryo UI" panose="020B0604030504040204" pitchFamily="50" charset="-128"/>
              <a:ea typeface="Meiryo UI" panose="020B0604030504040204" pitchFamily="50" charset="-128"/>
            </a:endParaRPr>
          </a:p>
          <a:p>
            <a:pPr>
              <a:lnSpc>
                <a:spcPct val="150000"/>
              </a:lnSpc>
            </a:pPr>
            <a:r>
              <a:rPr lang="en-US" altLang="ja-JP" sz="1200" dirty="0">
                <a:latin typeface="Meiryo UI" panose="020B0604030504040204" pitchFamily="50" charset="-128"/>
                <a:ea typeface="Meiryo UI" panose="020B0604030504040204" pitchFamily="50" charset="-128"/>
              </a:rPr>
              <a:t>【</a:t>
            </a:r>
            <a:r>
              <a:rPr lang="ja-JP" altLang="en-US" sz="1200" dirty="0">
                <a:latin typeface="Meiryo UI" panose="020B0604030504040204" pitchFamily="50" charset="-128"/>
                <a:ea typeface="Meiryo UI" panose="020B0604030504040204" pitchFamily="50" charset="-128"/>
              </a:rPr>
              <a:t>組織の柔軟性・変化対応力</a:t>
            </a:r>
            <a:r>
              <a:rPr lang="en-US" altLang="ja-JP" sz="1200" dirty="0">
                <a:latin typeface="Meiryo UI" panose="020B0604030504040204" pitchFamily="50" charset="-128"/>
                <a:ea typeface="Meiryo UI" panose="020B0604030504040204" pitchFamily="50" charset="-128"/>
              </a:rPr>
              <a:t>】</a:t>
            </a:r>
          </a:p>
          <a:p>
            <a:pPr marL="355600">
              <a:lnSpc>
                <a:spcPct val="150000"/>
              </a:lnSpc>
            </a:pPr>
            <a:r>
              <a:rPr lang="ja-JP" altLang="en-US" sz="1200" b="0" dirty="0">
                <a:latin typeface="Meiryo UI" panose="020B0604030504040204" pitchFamily="50" charset="-128"/>
                <a:ea typeface="Meiryo UI" panose="020B0604030504040204" pitchFamily="50" charset="-128"/>
              </a:rPr>
              <a:t>スキルベース組織は、従来型より</a:t>
            </a:r>
            <a:r>
              <a:rPr lang="en-US" altLang="ja-JP" sz="1200" b="0" dirty="0">
                <a:latin typeface="Meiryo UI" panose="020B0604030504040204" pitchFamily="50" charset="-128"/>
                <a:ea typeface="Meiryo UI" panose="020B0604030504040204" pitchFamily="50" charset="-128"/>
              </a:rPr>
              <a:t>57%</a:t>
            </a:r>
            <a:r>
              <a:rPr lang="ja-JP" altLang="en-US" sz="1200" b="0" dirty="0">
                <a:latin typeface="Meiryo UI" panose="020B0604030504040204" pitchFamily="50" charset="-128"/>
                <a:ea typeface="Meiryo UI" panose="020B0604030504040204" pitchFamily="50" charset="-128"/>
              </a:rPr>
              <a:t>高い確率でアジャイルな組織運営に成功しています。</a:t>
            </a:r>
            <a:r>
              <a:rPr lang="en-US" altLang="ja-JP" sz="1200" b="0" dirty="0">
                <a:latin typeface="Meiryo UI" panose="020B0604030504040204" pitchFamily="50" charset="-128"/>
                <a:ea typeface="Meiryo UI" panose="020B0604030504040204" pitchFamily="50" charset="-128"/>
              </a:rPr>
              <a:t>McKinsey</a:t>
            </a:r>
            <a:r>
              <a:rPr lang="ja-JP" altLang="en-US" sz="1200" b="0" dirty="0">
                <a:latin typeface="Meiryo UI" panose="020B0604030504040204" pitchFamily="50" charset="-128"/>
                <a:ea typeface="Meiryo UI" panose="020B0604030504040204" pitchFamily="50" charset="-128"/>
              </a:rPr>
              <a:t>の調査では、適応力の高い組織は競合他社より</a:t>
            </a:r>
            <a:r>
              <a:rPr lang="en-US" altLang="ja-JP" sz="1200" b="0" dirty="0">
                <a:latin typeface="Meiryo UI" panose="020B0604030504040204" pitchFamily="50" charset="-128"/>
                <a:ea typeface="Meiryo UI" panose="020B0604030504040204" pitchFamily="50" charset="-128"/>
              </a:rPr>
              <a:t>3.5</a:t>
            </a:r>
            <a:r>
              <a:rPr lang="ja-JP" altLang="en-US" sz="1200" b="0" dirty="0">
                <a:latin typeface="Meiryo UI" panose="020B0604030504040204" pitchFamily="50" charset="-128"/>
                <a:ea typeface="Meiryo UI" panose="020B0604030504040204" pitchFamily="50" charset="-128"/>
              </a:rPr>
              <a:t>倍高い業績を上げ、</a:t>
            </a:r>
            <a:r>
              <a:rPr lang="en-US" altLang="ja-JP" sz="1200" b="0" dirty="0">
                <a:latin typeface="Meiryo UI" panose="020B0604030504040204" pitchFamily="50" charset="-128"/>
                <a:ea typeface="Meiryo UI" panose="020B0604030504040204" pitchFamily="50" charset="-128"/>
              </a:rPr>
              <a:t>2.5</a:t>
            </a:r>
            <a:r>
              <a:rPr lang="ja-JP" altLang="en-US" sz="1200" b="0" dirty="0">
                <a:latin typeface="Meiryo UI" panose="020B0604030504040204" pitchFamily="50" charset="-128"/>
                <a:ea typeface="Meiryo UI" panose="020B0604030504040204" pitchFamily="50" charset="-128"/>
              </a:rPr>
              <a:t>倍高い確率で財務パフォーマンスが優れているとされています</a:t>
            </a:r>
            <a:endParaRPr lang="en-US" altLang="ja-JP" sz="1200" b="0" dirty="0">
              <a:latin typeface="Meiryo UI" panose="020B0604030504040204" pitchFamily="50" charset="-128"/>
              <a:ea typeface="Meiryo UI" panose="020B0604030504040204" pitchFamily="50" charset="-128"/>
            </a:endParaRPr>
          </a:p>
          <a:p>
            <a:pPr marL="720725">
              <a:lnSpc>
                <a:spcPct val="150000"/>
              </a:lnSpc>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https://vorecol.com/blogs/blog-how-can-organizations-foster-a-culture-of-adaptability-and-resilience-during-periods-of-change-85119</a:t>
            </a:r>
            <a:r>
              <a:rPr lang="en-US" altLang="ja-JP" sz="700" dirty="0"/>
              <a:t> </a:t>
            </a:r>
            <a:endParaRPr lang="en-US" altLang="ja-JP" sz="900" dirty="0">
              <a:latin typeface="Meiryo UI" panose="020B0604030504040204" pitchFamily="50" charset="-128"/>
              <a:ea typeface="Meiryo UI" panose="020B0604030504040204" pitchFamily="50" charset="-128"/>
            </a:endParaRPr>
          </a:p>
          <a:p>
            <a:pPr marL="720725">
              <a:lnSpc>
                <a:spcPct val="150000"/>
              </a:lnSpc>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hlinkClick r:id="rId2"/>
              </a:rPr>
              <a:t>https://www2.deloitte.com/content/dam/insights/articles/glob175985_global-human-capital-trends-2023/GLOB175985_HUMAN-CAPITAL-TRENDS-2023.pdf</a:t>
            </a:r>
            <a:endPar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endParaRPr>
          </a:p>
          <a:p>
            <a:pPr marL="720725">
              <a:lnSpc>
                <a:spcPct val="150000"/>
              </a:lnSpc>
            </a:pPr>
            <a:endParaRPr lang="en-US" altLang="ja-JP" sz="1200" b="0" dirty="0">
              <a:solidFill>
                <a:srgbClr val="000000"/>
              </a:solidFill>
              <a:latin typeface="游ゴシック" panose="020B0400000000000000" pitchFamily="50" charset="-128"/>
              <a:ea typeface="游ゴシック" panose="020B0400000000000000" pitchFamily="50" charset="-128"/>
            </a:endParaRPr>
          </a:p>
          <a:p>
            <a:pPr>
              <a:lnSpc>
                <a:spcPct val="150000"/>
              </a:lnSpc>
            </a:pPr>
            <a:r>
              <a:rPr lang="en-US" altLang="ja-JP" sz="1200" dirty="0"/>
              <a:t>【</a:t>
            </a:r>
            <a:r>
              <a:rPr lang="ja-JP" altLang="en-US" sz="1200" i="0" dirty="0">
                <a:effectLst/>
                <a:latin typeface="fkGroteskNeue"/>
              </a:rPr>
              <a:t>キャリア開発・スキルの可搬性</a:t>
            </a:r>
            <a:r>
              <a:rPr lang="en-US" altLang="ja-JP" sz="1200" dirty="0"/>
              <a:t>】</a:t>
            </a:r>
          </a:p>
          <a:p>
            <a:pPr marL="355600">
              <a:lnSpc>
                <a:spcPct val="150000"/>
              </a:lnSpc>
            </a:pPr>
            <a:r>
              <a:rPr lang="en-US" altLang="ja-JP" sz="1200" b="0" dirty="0"/>
              <a:t>Deloitte</a:t>
            </a:r>
            <a:r>
              <a:rPr lang="ja-JP" altLang="en-US" sz="1200" b="0" dirty="0"/>
              <a:t>の調査では、</a:t>
            </a:r>
            <a:r>
              <a:rPr lang="en-US" altLang="ja-JP" sz="1200" b="0" dirty="0"/>
              <a:t>76%</a:t>
            </a:r>
            <a:r>
              <a:rPr lang="ja-JP" altLang="en-US" sz="1200" b="0" dirty="0"/>
              <a:t>の従業員が「自分のスキルデータを他社・他部署でも活用できるようにしたい」と回答し、</a:t>
            </a:r>
            <a:r>
              <a:rPr lang="en-US" altLang="ja-JP" sz="1200" b="0" dirty="0"/>
              <a:t>55%</a:t>
            </a:r>
            <a:r>
              <a:rPr lang="ja-JP" altLang="en-US" sz="1200" b="0" dirty="0"/>
              <a:t>の経営層もこれに賛同しています</a:t>
            </a:r>
            <a:endParaRPr lang="en-US" altLang="ja-JP" sz="1200" b="0" dirty="0"/>
          </a:p>
          <a:p>
            <a:pPr marL="720725">
              <a:lnSpc>
                <a:spcPct val="150000"/>
              </a:lnSpc>
            </a:pP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https://www2.deloitte.com/us/en/insights/topics/talent/organizational-skill-based-hiring.html</a:t>
            </a:r>
            <a:r>
              <a:rPr lang="en-US" altLang="ja-JP" sz="700" dirty="0"/>
              <a:t> </a:t>
            </a:r>
            <a:r>
              <a:rPr lang="en-US" altLang="ja-JP" sz="900" b="0" i="0" u="none" strike="noStrike" dirty="0">
                <a:solidFill>
                  <a:srgbClr val="000000"/>
                </a:solidFill>
                <a:effectLst/>
                <a:latin typeface="游ゴシック" panose="020B0400000000000000" pitchFamily="50" charset="-128"/>
                <a:ea typeface="游ゴシック" panose="020B0400000000000000" pitchFamily="50" charset="-128"/>
              </a:rPr>
              <a:t>https://www2.deloitte.com/us/en/insights/topics/talent/organizational-skill-based-hiring.html</a:t>
            </a:r>
            <a:r>
              <a:rPr lang="en-US" altLang="ja-JP" sz="700" dirty="0"/>
              <a:t> </a:t>
            </a:r>
            <a:endParaRPr lang="en-US" altLang="ja-JP" sz="900" dirty="0"/>
          </a:p>
          <a:p>
            <a:pPr>
              <a:lnSpc>
                <a:spcPct val="150000"/>
              </a:lnSpc>
            </a:pPr>
            <a:r>
              <a:rPr lang="en-US" altLang="ja-JP" sz="700" dirty="0"/>
              <a:t> </a:t>
            </a:r>
            <a:endParaRPr lang="en-US" altLang="ja-JP" sz="900" dirty="0">
              <a:latin typeface="Meiryo UI" panose="020B0604030504040204" pitchFamily="50" charset="-128"/>
              <a:ea typeface="Meiryo UI" panose="020B0604030504040204" pitchFamily="50" charset="-128"/>
            </a:endParaRPr>
          </a:p>
        </p:txBody>
      </p:sp>
      <p:sp>
        <p:nvSpPr>
          <p:cNvPr id="8" name="四角形: 角を丸くする 7">
            <a:extLst>
              <a:ext uri="{FF2B5EF4-FFF2-40B4-BE49-F238E27FC236}">
                <a16:creationId xmlns:a16="http://schemas.microsoft.com/office/drawing/2014/main" id="{6CB1AF62-6762-7C45-2650-3BE9C9E038B3}"/>
              </a:ext>
            </a:extLst>
          </p:cNvPr>
          <p:cNvSpPr/>
          <p:nvPr/>
        </p:nvSpPr>
        <p:spPr>
          <a:xfrm>
            <a:off x="284480" y="715252"/>
            <a:ext cx="11734800" cy="587225"/>
          </a:xfrm>
          <a:prstGeom prst="roundRect">
            <a:avLst/>
          </a:prstGeom>
          <a:solidFill>
            <a:schemeClr val="tx2">
              <a:lumMod val="10000"/>
              <a:lumOff val="90000"/>
            </a:schemeClr>
          </a:solidFill>
          <a:ln>
            <a:solidFill>
              <a:srgbClr val="0070C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b="1" i="1" dirty="0">
                <a:solidFill>
                  <a:schemeClr val="tx1"/>
                </a:solidFill>
                <a:latin typeface="Meiryo UI" panose="020B0604030504040204" pitchFamily="50" charset="-128"/>
                <a:ea typeface="Meiryo UI" panose="020B0604030504040204" pitchFamily="50" charset="-128"/>
              </a:rPr>
              <a:t>ポータブルスキルの導入が「業績・生産性」「人材の定着・最適配置」「組織の柔軟性」「キャリアの可搬性」など</a:t>
            </a:r>
          </a:p>
          <a:p>
            <a:pPr algn="ctr"/>
            <a:r>
              <a:rPr kumimoji="1" lang="ja-JP" altLang="en-US" sz="1400" b="1" i="1" dirty="0">
                <a:solidFill>
                  <a:schemeClr val="tx1"/>
                </a:solidFill>
                <a:latin typeface="Meiryo UI" panose="020B0604030504040204" pitchFamily="50" charset="-128"/>
                <a:ea typeface="Meiryo UI" panose="020B0604030504040204" pitchFamily="50" charset="-128"/>
              </a:rPr>
              <a:t>多方面で大きな定量的効果をもたらすことを明確に示しています</a:t>
            </a:r>
          </a:p>
        </p:txBody>
      </p:sp>
      <p:sp>
        <p:nvSpPr>
          <p:cNvPr id="3" name="タイトル 6">
            <a:extLst>
              <a:ext uri="{FF2B5EF4-FFF2-40B4-BE49-F238E27FC236}">
                <a16:creationId xmlns:a16="http://schemas.microsoft.com/office/drawing/2014/main" id="{8086E73F-2315-4CCB-68BA-36D592044A57}"/>
              </a:ext>
            </a:extLst>
          </p:cNvPr>
          <p:cNvSpPr txBox="1">
            <a:spLocks/>
          </p:cNvSpPr>
          <p:nvPr/>
        </p:nvSpPr>
        <p:spPr>
          <a:xfrm>
            <a:off x="84029" y="136587"/>
            <a:ext cx="11221427" cy="528855"/>
          </a:xfrm>
          <a:prstGeom prst="rect">
            <a:avLst/>
          </a:prstGeom>
        </p:spPr>
        <p:txBody>
          <a:bodyPr>
            <a:normAutofit/>
          </a:bodyPr>
          <a:lst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a:lstStyle>
          <a:p>
            <a:r>
              <a:rPr lang="ja-JP" altLang="en-US" sz="2400" b="1" dirty="0">
                <a:latin typeface="Meiryo UI" panose="020B0604030504040204" pitchFamily="50" charset="-128"/>
                <a:ea typeface="Meiryo UI" panose="020B0604030504040204" pitchFamily="50" charset="-128"/>
                <a:cs typeface="+mn-cs"/>
              </a:rPr>
              <a:t>その他、ポータブルスキルの有用性に関するレポート</a:t>
            </a:r>
            <a:endParaRPr lang="ja-JP" altLang="en-US" dirty="0"/>
          </a:p>
        </p:txBody>
      </p:sp>
    </p:spTree>
    <p:extLst>
      <p:ext uri="{BB962C8B-B14F-4D97-AF65-F5344CB8AC3E}">
        <p14:creationId xmlns:p14="http://schemas.microsoft.com/office/powerpoint/2010/main" val="222556135"/>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104</TotalTime>
  <Words>1518</Words>
  <Application>Microsoft Office PowerPoint</Application>
  <PresentationFormat>ワイド画面</PresentationFormat>
  <Paragraphs>63</Paragraphs>
  <Slides>3</Slides>
  <Notes>0</Notes>
  <HiddenSlides>0</HiddenSlides>
  <MMClips>0</MMClips>
  <ScaleCrop>false</ScaleCrop>
  <HeadingPairs>
    <vt:vector size="6" baseType="variant">
      <vt:variant>
        <vt:lpstr>使用されているフォント</vt:lpstr>
      </vt:variant>
      <vt:variant>
        <vt:i4>6</vt:i4>
      </vt:variant>
      <vt:variant>
        <vt:lpstr>テーマ</vt:lpstr>
      </vt:variant>
      <vt:variant>
        <vt:i4>1</vt:i4>
      </vt:variant>
      <vt:variant>
        <vt:lpstr>スライド タイトル</vt:lpstr>
      </vt:variant>
      <vt:variant>
        <vt:i4>3</vt:i4>
      </vt:variant>
    </vt:vector>
  </HeadingPairs>
  <TitlesOfParts>
    <vt:vector size="10" baseType="lpstr">
      <vt:lpstr>fkGroteskNeue</vt:lpstr>
      <vt:lpstr>Meiryo UI</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Ryota Tamaoka</dc:creator>
  <cp:lastModifiedBy>Ryota Tamaoka</cp:lastModifiedBy>
  <cp:revision>1</cp:revision>
  <dcterms:created xsi:type="dcterms:W3CDTF">2025-04-21T02:34:06Z</dcterms:created>
  <dcterms:modified xsi:type="dcterms:W3CDTF">2025-04-21T17:13:29Z</dcterms:modified>
</cp:coreProperties>
</file>